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43"/>
    <p:sldId id="257" r:id="rId44"/>
    <p:sldId id="258" r:id="rId45"/>
    <p:sldId id="259" r:id="rId46"/>
    <p:sldId id="260" r:id="rId47"/>
    <p:sldId id="261" r:id="rId48"/>
    <p:sldId id="262" r:id="rId49"/>
    <p:sldId id="263" r:id="rId50"/>
    <p:sldId id="264" r:id="rId51"/>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Garet" charset="1" panose="00000000000000000000"/>
      <p:regular r:id="rId10"/>
    </p:embeddedFont>
    <p:embeddedFont>
      <p:font typeface="Garet Bold" charset="1" panose="00000000000000000000"/>
      <p:regular r:id="rId11"/>
    </p:embeddedFont>
    <p:embeddedFont>
      <p:font typeface="Garet Italics" charset="1" panose="00000000000000000000"/>
      <p:regular r:id="rId12"/>
    </p:embeddedFont>
    <p:embeddedFont>
      <p:font typeface="Garet Bold Italics" charset="1" panose="00000000000000000000"/>
      <p:regular r:id="rId13"/>
    </p:embeddedFont>
    <p:embeddedFont>
      <p:font typeface="Garet Light" charset="1" panose="00000000000000000000"/>
      <p:regular r:id="rId14"/>
    </p:embeddedFont>
    <p:embeddedFont>
      <p:font typeface="Garet Ultra-Bold" charset="1" panose="00000000000000000000"/>
      <p:regular r:id="rId15"/>
    </p:embeddedFont>
    <p:embeddedFont>
      <p:font typeface="Garet Ultra-Bold Italics" charset="1" panose="00000000000000000000"/>
      <p:regular r:id="rId16"/>
    </p:embeddedFont>
    <p:embeddedFont>
      <p:font typeface="Garet Heavy" charset="1" panose="00000000000000000000"/>
      <p:regular r:id="rId17"/>
    </p:embeddedFont>
    <p:embeddedFont>
      <p:font typeface="Garet Heavy Italics" charset="1" panose="00000000000000000000"/>
      <p:regular r:id="rId18"/>
    </p:embeddedFont>
    <p:embeddedFont>
      <p:font typeface="Open Sans" charset="1" panose="00000000000000000000"/>
      <p:regular r:id="rId19"/>
    </p:embeddedFont>
    <p:embeddedFont>
      <p:font typeface="Open Sans Bold" charset="1" panose="00000000000000000000"/>
      <p:regular r:id="rId20"/>
    </p:embeddedFont>
    <p:embeddedFont>
      <p:font typeface="Open Sans Italics" charset="1" panose="00000000000000000000"/>
      <p:regular r:id="rId21"/>
    </p:embeddedFont>
    <p:embeddedFont>
      <p:font typeface="Open Sans Bold Italics" charset="1" panose="00000000000000000000"/>
      <p:regular r:id="rId22"/>
    </p:embeddedFont>
    <p:embeddedFont>
      <p:font typeface="Open Sans Light" charset="1" panose="00000000000000000000"/>
      <p:regular r:id="rId23"/>
    </p:embeddedFont>
    <p:embeddedFont>
      <p:font typeface="Open Sans Light Italics" charset="1" panose="00000000000000000000"/>
      <p:regular r:id="rId24"/>
    </p:embeddedFont>
    <p:embeddedFont>
      <p:font typeface="Open Sans Medium" charset="1" panose="00000000000000000000"/>
      <p:regular r:id="rId25"/>
    </p:embeddedFont>
    <p:embeddedFont>
      <p:font typeface="Open Sans Medium Italics" charset="1" panose="00000000000000000000"/>
      <p:regular r:id="rId26"/>
    </p:embeddedFont>
    <p:embeddedFont>
      <p:font typeface="Open Sans Semi-Bold" charset="1" panose="00000000000000000000"/>
      <p:regular r:id="rId27"/>
    </p:embeddedFont>
    <p:embeddedFont>
      <p:font typeface="Open Sans Semi-Bold Italics" charset="1" panose="00000000000000000000"/>
      <p:regular r:id="rId28"/>
    </p:embeddedFont>
    <p:embeddedFont>
      <p:font typeface="Open Sans Ultra-Bold" charset="1" panose="00000000000000000000"/>
      <p:regular r:id="rId29"/>
    </p:embeddedFont>
    <p:embeddedFont>
      <p:font typeface="Open Sans Ultra-Bold Italics" charset="1" panose="00000000000000000000"/>
      <p:regular r:id="rId30"/>
    </p:embeddedFont>
    <p:embeddedFont>
      <p:font typeface="Inter" charset="1" panose="020B0502030000000004"/>
      <p:regular r:id="rId31"/>
    </p:embeddedFont>
    <p:embeddedFont>
      <p:font typeface="Inter Bold" charset="1" panose="020B0802030000000004"/>
      <p:regular r:id="rId32"/>
    </p:embeddedFont>
    <p:embeddedFont>
      <p:font typeface="Inter Italics" charset="1" panose="020B0502030000000004"/>
      <p:regular r:id="rId33"/>
    </p:embeddedFont>
    <p:embeddedFont>
      <p:font typeface="Inter Bold Italics" charset="1" panose="020B0802030000000004"/>
      <p:regular r:id="rId34"/>
    </p:embeddedFont>
    <p:embeddedFont>
      <p:font typeface="Inter Thin" charset="1" panose="020B0A02050000000004"/>
      <p:regular r:id="rId35"/>
    </p:embeddedFont>
    <p:embeddedFont>
      <p:font typeface="Inter Thin Italics" charset="1" panose="020B0A02050000000004"/>
      <p:regular r:id="rId36"/>
    </p:embeddedFont>
    <p:embeddedFont>
      <p:font typeface="Inter Extra-Light" charset="1" panose="02000503000000020004"/>
      <p:regular r:id="rId37"/>
    </p:embeddedFont>
    <p:embeddedFont>
      <p:font typeface="Inter Light" charset="1" panose="02000503000000020004"/>
      <p:regular r:id="rId38"/>
    </p:embeddedFont>
    <p:embeddedFont>
      <p:font typeface="Inter Medium" charset="1" panose="02000503000000020004"/>
      <p:regular r:id="rId39"/>
    </p:embeddedFont>
    <p:embeddedFont>
      <p:font typeface="Inter Semi-Bold" charset="1" panose="02000503000000020004"/>
      <p:regular r:id="rId40"/>
    </p:embeddedFont>
    <p:embeddedFont>
      <p:font typeface="Inter Ultra-Bold" charset="1" panose="02000503000000020004"/>
      <p:regular r:id="rId41"/>
    </p:embeddedFont>
    <p:embeddedFont>
      <p:font typeface="Inter Heavy" charset="1" panose="020005030000000200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slides/slide1.xml" Type="http://schemas.openxmlformats.org/officeDocument/2006/relationships/slide"/><Relationship Id="rId44" Target="slides/slide2.xml" Type="http://schemas.openxmlformats.org/officeDocument/2006/relationships/slide"/><Relationship Id="rId45" Target="slides/slide3.xml" Type="http://schemas.openxmlformats.org/officeDocument/2006/relationships/slide"/><Relationship Id="rId46" Target="slides/slide4.xml" Type="http://schemas.openxmlformats.org/officeDocument/2006/relationships/slide"/><Relationship Id="rId47" Target="slides/slide5.xml" Type="http://schemas.openxmlformats.org/officeDocument/2006/relationships/slide"/><Relationship Id="rId48" Target="slides/slide6.xml" Type="http://schemas.openxmlformats.org/officeDocument/2006/relationships/slide"/><Relationship Id="rId49" Target="slides/slide7.xml" Type="http://schemas.openxmlformats.org/officeDocument/2006/relationships/slide"/><Relationship Id="rId5" Target="tableStyles.xml" Type="http://schemas.openxmlformats.org/officeDocument/2006/relationships/tableStyles"/><Relationship Id="rId50" Target="slides/slide8.xml" Type="http://schemas.openxmlformats.org/officeDocument/2006/relationships/slide"/><Relationship Id="rId51" Target="slides/slide9.xml" Type="http://schemas.openxmlformats.org/officeDocument/2006/relationships/slide"/><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842469" y="0"/>
            <a:ext cx="5416831" cy="12022429"/>
            <a:chOff x="0" y="0"/>
            <a:chExt cx="2858770" cy="6344920"/>
          </a:xfrm>
        </p:grpSpPr>
        <p:sp>
          <p:nvSpPr>
            <p:cNvPr name="Freeform 3" id="3"/>
            <p:cNvSpPr/>
            <p:nvPr/>
          </p:nvSpPr>
          <p:spPr>
            <a:xfrm flipH="false" flipV="false" rot="0">
              <a:off x="0" y="0"/>
              <a:ext cx="2858770" cy="6344920"/>
            </a:xfrm>
            <a:custGeom>
              <a:avLst/>
              <a:gdLst/>
              <a:ahLst/>
              <a:cxnLst/>
              <a:rect r="r" b="b" t="t" l="l"/>
              <a:pathLst>
                <a:path h="6344920" w="2858770">
                  <a:moveTo>
                    <a:pt x="1827530" y="6344920"/>
                  </a:moveTo>
                  <a:lnTo>
                    <a:pt x="0" y="6344920"/>
                  </a:lnTo>
                  <a:lnTo>
                    <a:pt x="0" y="1031240"/>
                  </a:lnTo>
                  <a:cubicBezTo>
                    <a:pt x="0" y="461010"/>
                    <a:pt x="461010" y="0"/>
                    <a:pt x="1031240" y="0"/>
                  </a:cubicBezTo>
                  <a:lnTo>
                    <a:pt x="2858770" y="0"/>
                  </a:lnTo>
                  <a:lnTo>
                    <a:pt x="2858770" y="5313680"/>
                  </a:lnTo>
                  <a:cubicBezTo>
                    <a:pt x="2858770" y="5883910"/>
                    <a:pt x="2397760" y="6344920"/>
                    <a:pt x="1827530" y="6344920"/>
                  </a:cubicBezTo>
                  <a:close/>
                </a:path>
              </a:pathLst>
            </a:custGeom>
            <a:blipFill>
              <a:blip r:embed="rId2"/>
              <a:stretch>
                <a:fillRect l="-165522" t="-14942" r="-117142" b="0"/>
              </a:stretch>
            </a:blipFill>
          </p:spPr>
        </p:sp>
      </p:grpSp>
      <p:grpSp>
        <p:nvGrpSpPr>
          <p:cNvPr name="Group 4" id="4"/>
          <p:cNvGrpSpPr/>
          <p:nvPr/>
        </p:nvGrpSpPr>
        <p:grpSpPr>
          <a:xfrm rot="0">
            <a:off x="17259300" y="7109187"/>
            <a:ext cx="1028700" cy="3177813"/>
            <a:chOff x="0" y="0"/>
            <a:chExt cx="812800" cy="2510865"/>
          </a:xfrm>
        </p:grpSpPr>
        <p:sp>
          <p:nvSpPr>
            <p:cNvPr name="Freeform 5" id="5"/>
            <p:cNvSpPr/>
            <p:nvPr/>
          </p:nvSpPr>
          <p:spPr>
            <a:xfrm flipH="false" flipV="false" rot="0">
              <a:off x="0" y="0"/>
              <a:ext cx="812800" cy="2510865"/>
            </a:xfrm>
            <a:custGeom>
              <a:avLst/>
              <a:gdLst/>
              <a:ahLst/>
              <a:cxnLst/>
              <a:rect r="r" b="b" t="t" l="l"/>
              <a:pathLst>
                <a:path h="2510865" w="812800">
                  <a:moveTo>
                    <a:pt x="0" y="0"/>
                  </a:moveTo>
                  <a:lnTo>
                    <a:pt x="812800" y="0"/>
                  </a:lnTo>
                  <a:lnTo>
                    <a:pt x="812800" y="2510865"/>
                  </a:lnTo>
                  <a:lnTo>
                    <a:pt x="0" y="2510865"/>
                  </a:lnTo>
                  <a:close/>
                </a:path>
              </a:pathLst>
            </a:custGeom>
            <a:solidFill>
              <a:srgbClr val="0345E4"/>
            </a:solidFill>
          </p:spPr>
        </p:sp>
        <p:sp>
          <p:nvSpPr>
            <p:cNvPr name="TextBox 6" id="6"/>
            <p:cNvSpPr txBox="true"/>
            <p:nvPr/>
          </p:nvSpPr>
          <p:spPr>
            <a:xfrm>
              <a:off x="0" y="-38100"/>
              <a:ext cx="812800" cy="254896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0" y="7109187"/>
            <a:ext cx="11842469" cy="3177813"/>
            <a:chOff x="0" y="0"/>
            <a:chExt cx="9357013" cy="2510865"/>
          </a:xfrm>
        </p:grpSpPr>
        <p:sp>
          <p:nvSpPr>
            <p:cNvPr name="Freeform 8" id="8"/>
            <p:cNvSpPr/>
            <p:nvPr/>
          </p:nvSpPr>
          <p:spPr>
            <a:xfrm flipH="false" flipV="false" rot="0">
              <a:off x="0" y="0"/>
              <a:ext cx="9357013" cy="2510865"/>
            </a:xfrm>
            <a:custGeom>
              <a:avLst/>
              <a:gdLst/>
              <a:ahLst/>
              <a:cxnLst/>
              <a:rect r="r" b="b" t="t" l="l"/>
              <a:pathLst>
                <a:path h="2510865" w="9357013">
                  <a:moveTo>
                    <a:pt x="0" y="0"/>
                  </a:moveTo>
                  <a:lnTo>
                    <a:pt x="9357013" y="0"/>
                  </a:lnTo>
                  <a:lnTo>
                    <a:pt x="9357013" y="2510865"/>
                  </a:lnTo>
                  <a:lnTo>
                    <a:pt x="0" y="2510865"/>
                  </a:lnTo>
                  <a:close/>
                </a:path>
              </a:pathLst>
            </a:custGeom>
            <a:solidFill>
              <a:srgbClr val="F6F6F6"/>
            </a:solidFill>
          </p:spPr>
        </p:sp>
        <p:sp>
          <p:nvSpPr>
            <p:cNvPr name="TextBox 9" id="9"/>
            <p:cNvSpPr txBox="true"/>
            <p:nvPr/>
          </p:nvSpPr>
          <p:spPr>
            <a:xfrm>
              <a:off x="0" y="-38100"/>
              <a:ext cx="9357013" cy="254896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0"/>
            <a:ext cx="1028700" cy="10287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345E4"/>
            </a:solidFill>
          </p:spPr>
        </p:sp>
        <p:sp>
          <p:nvSpPr>
            <p:cNvPr name="TextBox 12" id="12"/>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609914" y="0"/>
            <a:ext cx="1694792" cy="10287000"/>
            <a:chOff x="0" y="0"/>
            <a:chExt cx="446365" cy="2709333"/>
          </a:xfrm>
        </p:grpSpPr>
        <p:sp>
          <p:nvSpPr>
            <p:cNvPr name="Freeform 14" id="14"/>
            <p:cNvSpPr/>
            <p:nvPr/>
          </p:nvSpPr>
          <p:spPr>
            <a:xfrm flipH="false" flipV="false" rot="0">
              <a:off x="0" y="0"/>
              <a:ext cx="446365" cy="2709333"/>
            </a:xfrm>
            <a:custGeom>
              <a:avLst/>
              <a:gdLst/>
              <a:ahLst/>
              <a:cxnLst/>
              <a:rect r="r" b="b" t="t" l="l"/>
              <a:pathLst>
                <a:path h="2709333" w="446365">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name="TextBox 15" id="15"/>
            <p:cNvSpPr txBox="true"/>
            <p:nvPr/>
          </p:nvSpPr>
          <p:spPr>
            <a:xfrm>
              <a:off x="0" y="-38100"/>
              <a:ext cx="446365" cy="2747433"/>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0853887" y="786854"/>
            <a:ext cx="1977164" cy="197716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199699" y="0"/>
                  </a:moveTo>
                  <a:lnTo>
                    <a:pt x="613101" y="0"/>
                  </a:lnTo>
                  <a:cubicBezTo>
                    <a:pt x="666064" y="0"/>
                    <a:pt x="716859" y="21040"/>
                    <a:pt x="754309" y="58491"/>
                  </a:cubicBezTo>
                  <a:cubicBezTo>
                    <a:pt x="791760" y="95941"/>
                    <a:pt x="812800" y="146736"/>
                    <a:pt x="812800" y="199699"/>
                  </a:cubicBezTo>
                  <a:lnTo>
                    <a:pt x="812800" y="613101"/>
                  </a:lnTo>
                  <a:cubicBezTo>
                    <a:pt x="812800" y="666064"/>
                    <a:pt x="791760" y="716859"/>
                    <a:pt x="754309" y="754309"/>
                  </a:cubicBezTo>
                  <a:cubicBezTo>
                    <a:pt x="716859" y="791760"/>
                    <a:pt x="666064" y="812800"/>
                    <a:pt x="613101" y="812800"/>
                  </a:cubicBezTo>
                  <a:lnTo>
                    <a:pt x="199699" y="812800"/>
                  </a:lnTo>
                  <a:cubicBezTo>
                    <a:pt x="146736" y="812800"/>
                    <a:pt x="95941" y="791760"/>
                    <a:pt x="58491" y="754309"/>
                  </a:cubicBezTo>
                  <a:cubicBezTo>
                    <a:pt x="21040" y="716859"/>
                    <a:pt x="0" y="666064"/>
                    <a:pt x="0" y="613101"/>
                  </a:cubicBezTo>
                  <a:lnTo>
                    <a:pt x="0" y="199699"/>
                  </a:lnTo>
                  <a:cubicBezTo>
                    <a:pt x="0" y="146736"/>
                    <a:pt x="21040" y="95941"/>
                    <a:pt x="58491" y="58491"/>
                  </a:cubicBezTo>
                  <a:cubicBezTo>
                    <a:pt x="95941" y="21040"/>
                    <a:pt x="146736" y="0"/>
                    <a:pt x="199699" y="0"/>
                  </a:cubicBezTo>
                  <a:close/>
                </a:path>
              </a:pathLst>
            </a:custGeom>
            <a:solidFill>
              <a:srgbClr val="0345E4">
                <a:alpha val="29804"/>
              </a:srgbClr>
            </a:solidFill>
          </p:spPr>
        </p:sp>
        <p:sp>
          <p:nvSpPr>
            <p:cNvPr name="TextBox 18" id="18"/>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2293629" y="8954844"/>
            <a:ext cx="5102540" cy="481330"/>
          </a:xfrm>
          <a:prstGeom prst="rect">
            <a:avLst/>
          </a:prstGeom>
        </p:spPr>
        <p:txBody>
          <a:bodyPr anchor="t" rtlCol="false" tIns="0" lIns="0" bIns="0" rIns="0">
            <a:spAutoFit/>
          </a:bodyPr>
          <a:lstStyle/>
          <a:p>
            <a:pPr>
              <a:lnSpc>
                <a:spcPts val="3919"/>
              </a:lnSpc>
            </a:pPr>
            <a:r>
              <a:rPr lang="en-US" sz="2799">
                <a:solidFill>
                  <a:srgbClr val="0345E4"/>
                </a:solidFill>
                <a:latin typeface="Garet Bold"/>
              </a:rPr>
              <a:t>ROLL NO:- 149</a:t>
            </a:r>
          </a:p>
        </p:txBody>
      </p:sp>
      <p:sp>
        <p:nvSpPr>
          <p:cNvPr name="TextBox 20" id="20"/>
          <p:cNvSpPr txBox="true"/>
          <p:nvPr/>
        </p:nvSpPr>
        <p:spPr>
          <a:xfrm rot="0">
            <a:off x="2293629" y="8157126"/>
            <a:ext cx="5102540" cy="481330"/>
          </a:xfrm>
          <a:prstGeom prst="rect">
            <a:avLst/>
          </a:prstGeom>
        </p:spPr>
        <p:txBody>
          <a:bodyPr anchor="t" rtlCol="false" tIns="0" lIns="0" bIns="0" rIns="0">
            <a:spAutoFit/>
          </a:bodyPr>
          <a:lstStyle/>
          <a:p>
            <a:pPr>
              <a:lnSpc>
                <a:spcPts val="3919"/>
              </a:lnSpc>
            </a:pPr>
            <a:r>
              <a:rPr lang="en-US" sz="2799">
                <a:solidFill>
                  <a:srgbClr val="0345E4"/>
                </a:solidFill>
                <a:latin typeface="Garet Bold"/>
              </a:rPr>
              <a:t>CLASS:- MSC CS PART-i</a:t>
            </a:r>
          </a:p>
        </p:txBody>
      </p:sp>
      <p:sp>
        <p:nvSpPr>
          <p:cNvPr name="TextBox 21" id="21"/>
          <p:cNvSpPr txBox="true"/>
          <p:nvPr/>
        </p:nvSpPr>
        <p:spPr>
          <a:xfrm rot="0">
            <a:off x="1624423" y="1580949"/>
            <a:ext cx="8795646" cy="3267075"/>
          </a:xfrm>
          <a:prstGeom prst="rect">
            <a:avLst/>
          </a:prstGeom>
        </p:spPr>
        <p:txBody>
          <a:bodyPr anchor="t" rtlCol="false" tIns="0" lIns="0" bIns="0" rIns="0">
            <a:spAutoFit/>
          </a:bodyPr>
          <a:lstStyle/>
          <a:p>
            <a:pPr>
              <a:lnSpc>
                <a:spcPts val="8625"/>
              </a:lnSpc>
            </a:pPr>
            <a:r>
              <a:rPr lang="en-US" sz="7500">
                <a:solidFill>
                  <a:srgbClr val="0345E4"/>
                </a:solidFill>
                <a:latin typeface="Garet Bold"/>
              </a:rPr>
              <a:t>LOAN </a:t>
            </a:r>
          </a:p>
          <a:p>
            <a:pPr>
              <a:lnSpc>
                <a:spcPts val="8625"/>
              </a:lnSpc>
            </a:pPr>
            <a:r>
              <a:rPr lang="en-US" sz="7500">
                <a:solidFill>
                  <a:srgbClr val="0345E4"/>
                </a:solidFill>
                <a:latin typeface="Garet Bold"/>
              </a:rPr>
              <a:t>APPROVAL PREDICTION</a:t>
            </a:r>
          </a:p>
        </p:txBody>
      </p:sp>
      <p:grpSp>
        <p:nvGrpSpPr>
          <p:cNvPr name="Group 22" id="22"/>
          <p:cNvGrpSpPr/>
          <p:nvPr/>
        </p:nvGrpSpPr>
        <p:grpSpPr>
          <a:xfrm rot="0">
            <a:off x="8484493" y="9014056"/>
            <a:ext cx="2545888" cy="2545888"/>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9804"/>
                </a:srgbClr>
              </a:solidFill>
              <a:prstDash val="solid"/>
              <a:miter/>
            </a:ln>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624423" y="5150822"/>
            <a:ext cx="8795646" cy="1491640"/>
            <a:chOff x="0" y="0"/>
            <a:chExt cx="2316549" cy="392860"/>
          </a:xfrm>
        </p:grpSpPr>
        <p:sp>
          <p:nvSpPr>
            <p:cNvPr name="Freeform 26" id="26"/>
            <p:cNvSpPr/>
            <p:nvPr/>
          </p:nvSpPr>
          <p:spPr>
            <a:xfrm flipH="false" flipV="false" rot="0">
              <a:off x="0" y="0"/>
              <a:ext cx="2316549" cy="392860"/>
            </a:xfrm>
            <a:custGeom>
              <a:avLst/>
              <a:gdLst/>
              <a:ahLst/>
              <a:cxnLst/>
              <a:rect r="r" b="b" t="t" l="l"/>
              <a:pathLst>
                <a:path h="392860" w="2316549">
                  <a:moveTo>
                    <a:pt x="44890" y="0"/>
                  </a:moveTo>
                  <a:lnTo>
                    <a:pt x="2271659" y="0"/>
                  </a:lnTo>
                  <a:cubicBezTo>
                    <a:pt x="2283564" y="0"/>
                    <a:pt x="2294982" y="4729"/>
                    <a:pt x="2303401" y="13148"/>
                  </a:cubicBezTo>
                  <a:cubicBezTo>
                    <a:pt x="2311819" y="21567"/>
                    <a:pt x="2316549" y="32985"/>
                    <a:pt x="2316549" y="44890"/>
                  </a:cubicBezTo>
                  <a:lnTo>
                    <a:pt x="2316549" y="347970"/>
                  </a:lnTo>
                  <a:cubicBezTo>
                    <a:pt x="2316549" y="359875"/>
                    <a:pt x="2311819" y="371293"/>
                    <a:pt x="2303401" y="379712"/>
                  </a:cubicBezTo>
                  <a:cubicBezTo>
                    <a:pt x="2294982" y="388130"/>
                    <a:pt x="2283564" y="392860"/>
                    <a:pt x="2271659" y="392860"/>
                  </a:cubicBezTo>
                  <a:lnTo>
                    <a:pt x="44890" y="392860"/>
                  </a:lnTo>
                  <a:cubicBezTo>
                    <a:pt x="32985" y="392860"/>
                    <a:pt x="21567" y="388130"/>
                    <a:pt x="13148" y="379712"/>
                  </a:cubicBezTo>
                  <a:cubicBezTo>
                    <a:pt x="4729" y="371293"/>
                    <a:pt x="0" y="359875"/>
                    <a:pt x="0" y="347970"/>
                  </a:cubicBezTo>
                  <a:lnTo>
                    <a:pt x="0" y="44890"/>
                  </a:lnTo>
                  <a:cubicBezTo>
                    <a:pt x="0" y="32985"/>
                    <a:pt x="4729" y="21567"/>
                    <a:pt x="13148" y="13148"/>
                  </a:cubicBezTo>
                  <a:cubicBezTo>
                    <a:pt x="21567" y="4729"/>
                    <a:pt x="32985" y="0"/>
                    <a:pt x="44890" y="0"/>
                  </a:cubicBezTo>
                  <a:close/>
                </a:path>
              </a:pathLst>
            </a:custGeom>
            <a:solidFill>
              <a:srgbClr val="0345E4"/>
            </a:solidFill>
          </p:spPr>
        </p:sp>
        <p:sp>
          <p:nvSpPr>
            <p:cNvPr name="TextBox 27" id="27"/>
            <p:cNvSpPr txBox="true"/>
            <p:nvPr/>
          </p:nvSpPr>
          <p:spPr>
            <a:xfrm>
              <a:off x="0" y="-47625"/>
              <a:ext cx="2316549" cy="440485"/>
            </a:xfrm>
            <a:prstGeom prst="rect">
              <a:avLst/>
            </a:prstGeom>
          </p:spPr>
          <p:txBody>
            <a:bodyPr anchor="ctr" rtlCol="false" tIns="50800" lIns="50800" bIns="50800" rIns="50800"/>
            <a:lstStyle/>
            <a:p>
              <a:pPr algn="ctr">
                <a:lnSpc>
                  <a:spcPts val="4199"/>
                </a:lnSpc>
              </a:pPr>
              <a:r>
                <a:rPr lang="en-US" sz="2999">
                  <a:solidFill>
                    <a:srgbClr val="FFFFFF"/>
                  </a:solidFill>
                  <a:latin typeface="Garet"/>
                </a:rPr>
                <a:t>COMPANY NAME :- SINHA PUROHIT &amp; ASSOCIATES LIP</a:t>
              </a:r>
            </a:p>
          </p:txBody>
        </p:sp>
      </p:grpSp>
      <p:sp>
        <p:nvSpPr>
          <p:cNvPr name="TextBox 28" id="28"/>
          <p:cNvSpPr txBox="true"/>
          <p:nvPr/>
        </p:nvSpPr>
        <p:spPr>
          <a:xfrm rot="0">
            <a:off x="2293629" y="7177956"/>
            <a:ext cx="5102540" cy="455295"/>
          </a:xfrm>
          <a:prstGeom prst="rect">
            <a:avLst/>
          </a:prstGeom>
        </p:spPr>
        <p:txBody>
          <a:bodyPr anchor="t" rtlCol="false" tIns="0" lIns="0" bIns="0" rIns="0">
            <a:spAutoFit/>
          </a:bodyPr>
          <a:lstStyle/>
          <a:p>
            <a:pPr>
              <a:lnSpc>
                <a:spcPts val="3779"/>
              </a:lnSpc>
            </a:pPr>
            <a:r>
              <a:rPr lang="en-US" sz="2699">
                <a:solidFill>
                  <a:srgbClr val="0345E4"/>
                </a:solidFill>
                <a:latin typeface="Garet Bold"/>
              </a:rPr>
              <a:t>BY VIRAJ GOSAVI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457766" y="7109187"/>
            <a:ext cx="11830234" cy="3177813"/>
            <a:chOff x="0" y="0"/>
            <a:chExt cx="9347345" cy="2510865"/>
          </a:xfrm>
        </p:grpSpPr>
        <p:sp>
          <p:nvSpPr>
            <p:cNvPr name="Freeform 3" id="3"/>
            <p:cNvSpPr/>
            <p:nvPr/>
          </p:nvSpPr>
          <p:spPr>
            <a:xfrm flipH="false" flipV="false" rot="0">
              <a:off x="0" y="0"/>
              <a:ext cx="9347345" cy="2510865"/>
            </a:xfrm>
            <a:custGeom>
              <a:avLst/>
              <a:gdLst/>
              <a:ahLst/>
              <a:cxnLst/>
              <a:rect r="r" b="b" t="t" l="l"/>
              <a:pathLst>
                <a:path h="2510865" w="9347345">
                  <a:moveTo>
                    <a:pt x="0" y="0"/>
                  </a:moveTo>
                  <a:lnTo>
                    <a:pt x="9347345" y="0"/>
                  </a:lnTo>
                  <a:lnTo>
                    <a:pt x="9347345" y="2510865"/>
                  </a:lnTo>
                  <a:lnTo>
                    <a:pt x="0" y="2510865"/>
                  </a:lnTo>
                  <a:close/>
                </a:path>
              </a:pathLst>
            </a:custGeom>
            <a:solidFill>
              <a:srgbClr val="F6F6F6"/>
            </a:solidFill>
          </p:spPr>
        </p:sp>
        <p:sp>
          <p:nvSpPr>
            <p:cNvPr name="TextBox 4" id="4"/>
            <p:cNvSpPr txBox="true"/>
            <p:nvPr/>
          </p:nvSpPr>
          <p:spPr>
            <a:xfrm>
              <a:off x="0" y="-38100"/>
              <a:ext cx="9347345" cy="254896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0"/>
            <a:ext cx="5429066" cy="10287000"/>
            <a:chOff x="0" y="0"/>
            <a:chExt cx="7238755" cy="13716000"/>
          </a:xfrm>
        </p:grpSpPr>
        <p:pic>
          <p:nvPicPr>
            <p:cNvPr name="Picture 6" id="6"/>
            <p:cNvPicPr>
              <a:picLocks noChangeAspect="true"/>
            </p:cNvPicPr>
            <p:nvPr/>
          </p:nvPicPr>
          <p:blipFill>
            <a:blip r:embed="rId2"/>
            <a:srcRect l="34390" t="0" r="40145" b="0"/>
            <a:stretch>
              <a:fillRect/>
            </a:stretch>
          </p:blipFill>
          <p:spPr>
            <a:xfrm flipH="false" flipV="false">
              <a:off x="0" y="0"/>
              <a:ext cx="7238755" cy="13716000"/>
            </a:xfrm>
            <a:prstGeom prst="rect">
              <a:avLst/>
            </a:prstGeom>
          </p:spPr>
        </p:pic>
      </p:grpSp>
      <p:grpSp>
        <p:nvGrpSpPr>
          <p:cNvPr name="Group 7" id="7"/>
          <p:cNvGrpSpPr/>
          <p:nvPr/>
        </p:nvGrpSpPr>
        <p:grpSpPr>
          <a:xfrm rot="0">
            <a:off x="17259300" y="0"/>
            <a:ext cx="1694792" cy="10287000"/>
            <a:chOff x="0" y="0"/>
            <a:chExt cx="446365" cy="2709333"/>
          </a:xfrm>
        </p:grpSpPr>
        <p:sp>
          <p:nvSpPr>
            <p:cNvPr name="Freeform 8" id="8"/>
            <p:cNvSpPr/>
            <p:nvPr/>
          </p:nvSpPr>
          <p:spPr>
            <a:xfrm flipH="false" flipV="false" rot="0">
              <a:off x="0" y="0"/>
              <a:ext cx="446365" cy="2709333"/>
            </a:xfrm>
            <a:custGeom>
              <a:avLst/>
              <a:gdLst/>
              <a:ahLst/>
              <a:cxnLst/>
              <a:rect r="r" b="b" t="t" l="l"/>
              <a:pathLst>
                <a:path h="2709333" w="446365">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name="TextBox 9" id="9"/>
            <p:cNvSpPr txBox="true"/>
            <p:nvPr/>
          </p:nvSpPr>
          <p:spPr>
            <a:xfrm>
              <a:off x="0" y="-38100"/>
              <a:ext cx="446365" cy="2747433"/>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0" y="7109187"/>
            <a:ext cx="1028700" cy="3177813"/>
            <a:chOff x="0" y="0"/>
            <a:chExt cx="812800" cy="2510865"/>
          </a:xfrm>
        </p:grpSpPr>
        <p:sp>
          <p:nvSpPr>
            <p:cNvPr name="Freeform 11" id="11"/>
            <p:cNvSpPr/>
            <p:nvPr/>
          </p:nvSpPr>
          <p:spPr>
            <a:xfrm flipH="false" flipV="false" rot="0">
              <a:off x="0" y="0"/>
              <a:ext cx="812800" cy="2510865"/>
            </a:xfrm>
            <a:custGeom>
              <a:avLst/>
              <a:gdLst/>
              <a:ahLst/>
              <a:cxnLst/>
              <a:rect r="r" b="b" t="t" l="l"/>
              <a:pathLst>
                <a:path h="2510865" w="812800">
                  <a:moveTo>
                    <a:pt x="0" y="0"/>
                  </a:moveTo>
                  <a:lnTo>
                    <a:pt x="812800" y="0"/>
                  </a:lnTo>
                  <a:lnTo>
                    <a:pt x="812800" y="2510865"/>
                  </a:lnTo>
                  <a:lnTo>
                    <a:pt x="0" y="2510865"/>
                  </a:lnTo>
                  <a:close/>
                </a:path>
              </a:pathLst>
            </a:custGeom>
            <a:solidFill>
              <a:srgbClr val="0345E4"/>
            </a:solidFill>
          </p:spPr>
        </p:sp>
        <p:sp>
          <p:nvSpPr>
            <p:cNvPr name="TextBox 12" id="12"/>
            <p:cNvSpPr txBox="true"/>
            <p:nvPr/>
          </p:nvSpPr>
          <p:spPr>
            <a:xfrm>
              <a:off x="0" y="-38100"/>
              <a:ext cx="812800" cy="254896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0"/>
            <a:ext cx="1028700" cy="102870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345E4"/>
            </a:solidFill>
          </p:spPr>
        </p:sp>
        <p:sp>
          <p:nvSpPr>
            <p:cNvPr name="TextBox 15" id="15"/>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7297118" y="692526"/>
            <a:ext cx="7494647" cy="1155745"/>
          </a:xfrm>
          <a:prstGeom prst="rect">
            <a:avLst/>
          </a:prstGeom>
        </p:spPr>
        <p:txBody>
          <a:bodyPr anchor="t" rtlCol="false" tIns="0" lIns="0" bIns="0" rIns="0">
            <a:spAutoFit/>
          </a:bodyPr>
          <a:lstStyle/>
          <a:p>
            <a:pPr>
              <a:lnSpc>
                <a:spcPts val="9487"/>
              </a:lnSpc>
            </a:pPr>
            <a:r>
              <a:rPr lang="en-US" sz="6776">
                <a:solidFill>
                  <a:srgbClr val="000000"/>
                </a:solidFill>
                <a:latin typeface="Garet Bold"/>
              </a:rPr>
              <a:t>CONTENT</a:t>
            </a:r>
          </a:p>
        </p:txBody>
      </p:sp>
      <p:grpSp>
        <p:nvGrpSpPr>
          <p:cNvPr name="Group 17" id="17"/>
          <p:cNvGrpSpPr/>
          <p:nvPr/>
        </p:nvGrpSpPr>
        <p:grpSpPr>
          <a:xfrm rot="0">
            <a:off x="7297118" y="2384162"/>
            <a:ext cx="969409" cy="96940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19" id="19"/>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sz="3399">
                  <a:solidFill>
                    <a:srgbClr val="FFFFFF"/>
                  </a:solidFill>
                  <a:latin typeface="Garet Bold"/>
                </a:rPr>
                <a:t>01</a:t>
              </a:r>
            </a:p>
          </p:txBody>
        </p:sp>
      </p:grpSp>
      <p:grpSp>
        <p:nvGrpSpPr>
          <p:cNvPr name="Group 20" id="20"/>
          <p:cNvGrpSpPr/>
          <p:nvPr/>
        </p:nvGrpSpPr>
        <p:grpSpPr>
          <a:xfrm rot="0">
            <a:off x="7297118" y="3565108"/>
            <a:ext cx="969409" cy="969409"/>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22" id="22"/>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sz="3399">
                  <a:solidFill>
                    <a:srgbClr val="FFFFFF"/>
                  </a:solidFill>
                  <a:latin typeface="Garet Bold"/>
                </a:rPr>
                <a:t>02</a:t>
              </a:r>
            </a:p>
          </p:txBody>
        </p:sp>
      </p:grpSp>
      <p:grpSp>
        <p:nvGrpSpPr>
          <p:cNvPr name="Group 23" id="23"/>
          <p:cNvGrpSpPr/>
          <p:nvPr/>
        </p:nvGrpSpPr>
        <p:grpSpPr>
          <a:xfrm rot="0">
            <a:off x="7297118" y="4746054"/>
            <a:ext cx="969409" cy="969409"/>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25" id="25"/>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sz="3399">
                  <a:solidFill>
                    <a:srgbClr val="FFFFFF"/>
                  </a:solidFill>
                  <a:latin typeface="Garet Bold"/>
                </a:rPr>
                <a:t>03</a:t>
              </a:r>
            </a:p>
          </p:txBody>
        </p:sp>
      </p:grpSp>
      <p:grpSp>
        <p:nvGrpSpPr>
          <p:cNvPr name="Group 26" id="26"/>
          <p:cNvGrpSpPr/>
          <p:nvPr/>
        </p:nvGrpSpPr>
        <p:grpSpPr>
          <a:xfrm rot="0">
            <a:off x="7297118" y="5927000"/>
            <a:ext cx="969409" cy="969409"/>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28" id="28"/>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sz="3399">
                  <a:solidFill>
                    <a:srgbClr val="FFFFFF"/>
                  </a:solidFill>
                  <a:latin typeface="Garet Bold"/>
                </a:rPr>
                <a:t>04</a:t>
              </a:r>
            </a:p>
          </p:txBody>
        </p:sp>
      </p:grpSp>
      <p:grpSp>
        <p:nvGrpSpPr>
          <p:cNvPr name="Group 29" id="29"/>
          <p:cNvGrpSpPr/>
          <p:nvPr/>
        </p:nvGrpSpPr>
        <p:grpSpPr>
          <a:xfrm rot="0">
            <a:off x="7297118" y="7107945"/>
            <a:ext cx="969409" cy="969409"/>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31" id="31"/>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sz="3399">
                  <a:solidFill>
                    <a:srgbClr val="FFFFFF"/>
                  </a:solidFill>
                  <a:latin typeface="Garet Bold"/>
                </a:rPr>
                <a:t>05</a:t>
              </a:r>
            </a:p>
          </p:txBody>
        </p:sp>
      </p:grpSp>
      <p:grpSp>
        <p:nvGrpSpPr>
          <p:cNvPr name="Group 32" id="32"/>
          <p:cNvGrpSpPr/>
          <p:nvPr/>
        </p:nvGrpSpPr>
        <p:grpSpPr>
          <a:xfrm rot="0">
            <a:off x="7297118" y="8288891"/>
            <a:ext cx="969409" cy="969409"/>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34" id="34"/>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sz="3399">
                  <a:solidFill>
                    <a:srgbClr val="FFFFFF"/>
                  </a:solidFill>
                  <a:latin typeface="Garet Bold"/>
                </a:rPr>
                <a:t>06</a:t>
              </a:r>
            </a:p>
          </p:txBody>
        </p:sp>
      </p:grpSp>
      <p:grpSp>
        <p:nvGrpSpPr>
          <p:cNvPr name="Group 35" id="35"/>
          <p:cNvGrpSpPr/>
          <p:nvPr/>
        </p:nvGrpSpPr>
        <p:grpSpPr>
          <a:xfrm rot="0">
            <a:off x="15011231" y="1028700"/>
            <a:ext cx="1652841" cy="1652841"/>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238884" y="0"/>
                  </a:moveTo>
                  <a:lnTo>
                    <a:pt x="573916" y="0"/>
                  </a:lnTo>
                  <a:cubicBezTo>
                    <a:pt x="705848" y="0"/>
                    <a:pt x="812800" y="106952"/>
                    <a:pt x="812800" y="238884"/>
                  </a:cubicBezTo>
                  <a:lnTo>
                    <a:pt x="812800" y="573916"/>
                  </a:lnTo>
                  <a:cubicBezTo>
                    <a:pt x="812800" y="705848"/>
                    <a:pt x="705848" y="812800"/>
                    <a:pt x="573916" y="812800"/>
                  </a:cubicBezTo>
                  <a:lnTo>
                    <a:pt x="238884" y="812800"/>
                  </a:lnTo>
                  <a:cubicBezTo>
                    <a:pt x="106952" y="812800"/>
                    <a:pt x="0" y="705848"/>
                    <a:pt x="0" y="573916"/>
                  </a:cubicBezTo>
                  <a:lnTo>
                    <a:pt x="0" y="238884"/>
                  </a:lnTo>
                  <a:cubicBezTo>
                    <a:pt x="0" y="106952"/>
                    <a:pt x="106952" y="0"/>
                    <a:pt x="238884" y="0"/>
                  </a:cubicBezTo>
                  <a:close/>
                </a:path>
              </a:pathLst>
            </a:custGeom>
            <a:solidFill>
              <a:srgbClr val="0345E4">
                <a:alpha val="29804"/>
              </a:srgbClr>
            </a:solidFill>
          </p:spPr>
        </p:sp>
        <p:sp>
          <p:nvSpPr>
            <p:cNvPr name="TextBox 37" id="3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38" id="38"/>
          <p:cNvGrpSpPr/>
          <p:nvPr/>
        </p:nvGrpSpPr>
        <p:grpSpPr>
          <a:xfrm rot="0">
            <a:off x="14814124" y="816351"/>
            <a:ext cx="771724" cy="771724"/>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1" id="41"/>
          <p:cNvGrpSpPr/>
          <p:nvPr/>
        </p:nvGrpSpPr>
        <p:grpSpPr>
          <a:xfrm rot="0">
            <a:off x="12919457" y="8414693"/>
            <a:ext cx="3744615" cy="3744615"/>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name="TextBox 43" id="4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44" id="44"/>
          <p:cNvSpPr txBox="true"/>
          <p:nvPr/>
        </p:nvSpPr>
        <p:spPr>
          <a:xfrm rot="0">
            <a:off x="8485829" y="2633916"/>
            <a:ext cx="7351823" cy="422275"/>
          </a:xfrm>
          <a:prstGeom prst="rect">
            <a:avLst/>
          </a:prstGeom>
        </p:spPr>
        <p:txBody>
          <a:bodyPr anchor="t" rtlCol="false" tIns="0" lIns="0" bIns="0" rIns="0">
            <a:spAutoFit/>
          </a:bodyPr>
          <a:lstStyle/>
          <a:p>
            <a:pPr>
              <a:lnSpc>
                <a:spcPts val="3499"/>
              </a:lnSpc>
            </a:pPr>
            <a:r>
              <a:rPr lang="en-US" sz="2499">
                <a:solidFill>
                  <a:srgbClr val="0345E4"/>
                </a:solidFill>
                <a:latin typeface="Garet Bold"/>
              </a:rPr>
              <a:t>Introduction &amp; Primary Objectives</a:t>
            </a:r>
          </a:p>
        </p:txBody>
      </p:sp>
      <p:sp>
        <p:nvSpPr>
          <p:cNvPr name="TextBox 45" id="45"/>
          <p:cNvSpPr txBox="true"/>
          <p:nvPr/>
        </p:nvSpPr>
        <p:spPr>
          <a:xfrm rot="0">
            <a:off x="8485829" y="3814862"/>
            <a:ext cx="7351823" cy="422275"/>
          </a:xfrm>
          <a:prstGeom prst="rect">
            <a:avLst/>
          </a:prstGeom>
        </p:spPr>
        <p:txBody>
          <a:bodyPr anchor="t" rtlCol="false" tIns="0" lIns="0" bIns="0" rIns="0">
            <a:spAutoFit/>
          </a:bodyPr>
          <a:lstStyle/>
          <a:p>
            <a:pPr>
              <a:lnSpc>
                <a:spcPts val="3499"/>
              </a:lnSpc>
            </a:pPr>
            <a:r>
              <a:rPr lang="en-US" sz="2499">
                <a:solidFill>
                  <a:srgbClr val="0345E4"/>
                </a:solidFill>
                <a:latin typeface="Garet Bold"/>
              </a:rPr>
              <a:t>Problem Statement</a:t>
            </a:r>
          </a:p>
        </p:txBody>
      </p:sp>
      <p:sp>
        <p:nvSpPr>
          <p:cNvPr name="TextBox 46" id="46"/>
          <p:cNvSpPr txBox="true"/>
          <p:nvPr/>
        </p:nvSpPr>
        <p:spPr>
          <a:xfrm rot="0">
            <a:off x="8485829" y="4995808"/>
            <a:ext cx="7351823" cy="422275"/>
          </a:xfrm>
          <a:prstGeom prst="rect">
            <a:avLst/>
          </a:prstGeom>
        </p:spPr>
        <p:txBody>
          <a:bodyPr anchor="t" rtlCol="false" tIns="0" lIns="0" bIns="0" rIns="0">
            <a:spAutoFit/>
          </a:bodyPr>
          <a:lstStyle/>
          <a:p>
            <a:pPr>
              <a:lnSpc>
                <a:spcPts val="3499"/>
              </a:lnSpc>
            </a:pPr>
            <a:r>
              <a:rPr lang="en-US" sz="2499">
                <a:solidFill>
                  <a:srgbClr val="0345E4"/>
                </a:solidFill>
                <a:latin typeface="Garet Bold"/>
              </a:rPr>
              <a:t>Scope of the Solution</a:t>
            </a:r>
          </a:p>
        </p:txBody>
      </p:sp>
      <p:sp>
        <p:nvSpPr>
          <p:cNvPr name="TextBox 47" id="47"/>
          <p:cNvSpPr txBox="true"/>
          <p:nvPr/>
        </p:nvSpPr>
        <p:spPr>
          <a:xfrm rot="0">
            <a:off x="8485829" y="6176754"/>
            <a:ext cx="7100019" cy="422275"/>
          </a:xfrm>
          <a:prstGeom prst="rect">
            <a:avLst/>
          </a:prstGeom>
        </p:spPr>
        <p:txBody>
          <a:bodyPr anchor="t" rtlCol="false" tIns="0" lIns="0" bIns="0" rIns="0">
            <a:spAutoFit/>
          </a:bodyPr>
          <a:lstStyle/>
          <a:p>
            <a:pPr>
              <a:lnSpc>
                <a:spcPts val="3499"/>
              </a:lnSpc>
            </a:pPr>
            <a:r>
              <a:rPr lang="en-US" sz="2499">
                <a:solidFill>
                  <a:srgbClr val="0345E4"/>
                </a:solidFill>
                <a:latin typeface="Garet Bold"/>
              </a:rPr>
              <a:t>Data Collection Methods with Technology </a:t>
            </a:r>
          </a:p>
        </p:txBody>
      </p:sp>
      <p:sp>
        <p:nvSpPr>
          <p:cNvPr name="TextBox 48" id="48"/>
          <p:cNvSpPr txBox="true"/>
          <p:nvPr/>
        </p:nvSpPr>
        <p:spPr>
          <a:xfrm rot="0">
            <a:off x="8485829" y="8538646"/>
            <a:ext cx="7351823" cy="422275"/>
          </a:xfrm>
          <a:prstGeom prst="rect">
            <a:avLst/>
          </a:prstGeom>
        </p:spPr>
        <p:txBody>
          <a:bodyPr anchor="t" rtlCol="false" tIns="0" lIns="0" bIns="0" rIns="0">
            <a:spAutoFit/>
          </a:bodyPr>
          <a:lstStyle/>
          <a:p>
            <a:pPr>
              <a:lnSpc>
                <a:spcPts val="3499"/>
              </a:lnSpc>
            </a:pPr>
            <a:r>
              <a:rPr lang="en-US" sz="2499">
                <a:solidFill>
                  <a:srgbClr val="0345E4"/>
                </a:solidFill>
                <a:latin typeface="Garet Bold"/>
              </a:rPr>
              <a:t>Conclusion</a:t>
            </a:r>
          </a:p>
        </p:txBody>
      </p:sp>
      <p:sp>
        <p:nvSpPr>
          <p:cNvPr name="TextBox 49" id="49"/>
          <p:cNvSpPr txBox="true"/>
          <p:nvPr/>
        </p:nvSpPr>
        <p:spPr>
          <a:xfrm rot="0">
            <a:off x="8485829" y="7361029"/>
            <a:ext cx="7351823" cy="422275"/>
          </a:xfrm>
          <a:prstGeom prst="rect">
            <a:avLst/>
          </a:prstGeom>
        </p:spPr>
        <p:txBody>
          <a:bodyPr anchor="t" rtlCol="false" tIns="0" lIns="0" bIns="0" rIns="0">
            <a:spAutoFit/>
          </a:bodyPr>
          <a:lstStyle/>
          <a:p>
            <a:pPr>
              <a:lnSpc>
                <a:spcPts val="3499"/>
              </a:lnSpc>
            </a:pPr>
            <a:r>
              <a:rPr lang="en-US" sz="2499">
                <a:solidFill>
                  <a:srgbClr val="0345E4"/>
                </a:solidFill>
                <a:latin typeface="Garet Bold"/>
              </a:rPr>
              <a:t>Future Scope</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8065996" cy="10287000"/>
            <a:chOff x="0" y="0"/>
            <a:chExt cx="2124378" cy="2709333"/>
          </a:xfrm>
        </p:grpSpPr>
        <p:sp>
          <p:nvSpPr>
            <p:cNvPr name="Freeform 3" id="3"/>
            <p:cNvSpPr/>
            <p:nvPr/>
          </p:nvSpPr>
          <p:spPr>
            <a:xfrm flipH="false" flipV="false" rot="0">
              <a:off x="0" y="0"/>
              <a:ext cx="2124378" cy="2709333"/>
            </a:xfrm>
            <a:custGeom>
              <a:avLst/>
              <a:gdLst/>
              <a:ahLst/>
              <a:cxnLst/>
              <a:rect r="r" b="b" t="t" l="l"/>
              <a:pathLst>
                <a:path h="2709333" w="2124378">
                  <a:moveTo>
                    <a:pt x="0" y="0"/>
                  </a:moveTo>
                  <a:lnTo>
                    <a:pt x="2124378" y="0"/>
                  </a:lnTo>
                  <a:lnTo>
                    <a:pt x="2124378" y="2709333"/>
                  </a:lnTo>
                  <a:lnTo>
                    <a:pt x="0" y="2709333"/>
                  </a:lnTo>
                  <a:close/>
                </a:path>
              </a:pathLst>
            </a:custGeom>
            <a:solidFill>
              <a:srgbClr val="0345E4"/>
            </a:solidFill>
          </p:spPr>
        </p:sp>
        <p:sp>
          <p:nvSpPr>
            <p:cNvPr name="TextBox 4" id="4"/>
            <p:cNvSpPr txBox="true"/>
            <p:nvPr/>
          </p:nvSpPr>
          <p:spPr>
            <a:xfrm>
              <a:off x="0" y="-38100"/>
              <a:ext cx="2124378" cy="2747433"/>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837139" y="1231105"/>
            <a:ext cx="1310100" cy="0"/>
          </a:xfrm>
          <a:prstGeom prst="line">
            <a:avLst/>
          </a:prstGeom>
          <a:ln cap="flat" w="95250">
            <a:solidFill>
              <a:srgbClr val="FFFFFF"/>
            </a:solidFill>
            <a:prstDash val="solid"/>
            <a:headEnd type="none" len="sm" w="sm"/>
            <a:tailEnd type="none" len="sm" w="sm"/>
          </a:ln>
        </p:spPr>
      </p:sp>
      <p:sp>
        <p:nvSpPr>
          <p:cNvPr name="TextBox 6" id="6"/>
          <p:cNvSpPr txBox="true"/>
          <p:nvPr/>
        </p:nvSpPr>
        <p:spPr>
          <a:xfrm rot="0">
            <a:off x="539118" y="1673114"/>
            <a:ext cx="6923076" cy="7552055"/>
          </a:xfrm>
          <a:prstGeom prst="rect">
            <a:avLst/>
          </a:prstGeom>
        </p:spPr>
        <p:txBody>
          <a:bodyPr anchor="t" rtlCol="false" tIns="0" lIns="0" bIns="0" rIns="0">
            <a:spAutoFit/>
          </a:bodyPr>
          <a:lstStyle/>
          <a:p>
            <a:pPr algn="just" marL="561339" indent="-280669" lvl="1">
              <a:lnSpc>
                <a:spcPts val="4029"/>
              </a:lnSpc>
              <a:buFont typeface="Arial"/>
              <a:buChar char="•"/>
            </a:pPr>
            <a:r>
              <a:rPr lang="en-US" sz="2599">
                <a:solidFill>
                  <a:srgbClr val="FFFFFF"/>
                </a:solidFill>
                <a:latin typeface="Open Sans Bold"/>
              </a:rPr>
              <a:t>The Loan Approval Prediction project aims to develop a predictive model that can determine whether a loan application will be approved or rejected by a bank. </a:t>
            </a:r>
          </a:p>
          <a:p>
            <a:pPr algn="just">
              <a:lnSpc>
                <a:spcPts val="4029"/>
              </a:lnSpc>
            </a:pPr>
          </a:p>
          <a:p>
            <a:pPr algn="just" marL="561339" indent="-280669" lvl="1">
              <a:lnSpc>
                <a:spcPts val="4029"/>
              </a:lnSpc>
              <a:buFont typeface="Arial"/>
              <a:buChar char="•"/>
            </a:pPr>
            <a:r>
              <a:rPr lang="en-US" sz="2599">
                <a:solidFill>
                  <a:srgbClr val="FFFFFF"/>
                </a:solidFill>
                <a:latin typeface="Open Sans Bold"/>
              </a:rPr>
              <a:t>It is aimed at leveraging data-driven insights to enhance decision-making and customer service in lending.</a:t>
            </a:r>
          </a:p>
          <a:p>
            <a:pPr algn="just">
              <a:lnSpc>
                <a:spcPts val="4029"/>
              </a:lnSpc>
            </a:pPr>
          </a:p>
          <a:p>
            <a:pPr algn="just" marL="561339" indent="-280669" lvl="1">
              <a:lnSpc>
                <a:spcPts val="4029"/>
              </a:lnSpc>
              <a:buFont typeface="Arial"/>
              <a:buChar char="•"/>
            </a:pPr>
            <a:r>
              <a:rPr lang="en-US" sz="2599">
                <a:solidFill>
                  <a:srgbClr val="FFFFFF"/>
                </a:solidFill>
                <a:latin typeface="Open Sans Bold"/>
              </a:rPr>
              <a:t>The model analyzes various factors and information provided by the applicant, such as loan amount, tenure, CIBIL (credit) score, education, income, and asset values.</a:t>
            </a:r>
          </a:p>
        </p:txBody>
      </p:sp>
      <p:sp>
        <p:nvSpPr>
          <p:cNvPr name="TextBox 7" id="7"/>
          <p:cNvSpPr txBox="true"/>
          <p:nvPr/>
        </p:nvSpPr>
        <p:spPr>
          <a:xfrm rot="0">
            <a:off x="8827796" y="419575"/>
            <a:ext cx="6708381" cy="811531"/>
          </a:xfrm>
          <a:prstGeom prst="rect">
            <a:avLst/>
          </a:prstGeom>
        </p:spPr>
        <p:txBody>
          <a:bodyPr anchor="t" rtlCol="false" tIns="0" lIns="0" bIns="0" rIns="0">
            <a:spAutoFit/>
          </a:bodyPr>
          <a:lstStyle/>
          <a:p>
            <a:pPr>
              <a:lnSpc>
                <a:spcPts val="6719"/>
              </a:lnSpc>
            </a:pPr>
            <a:r>
              <a:rPr lang="en-US" sz="4799">
                <a:solidFill>
                  <a:srgbClr val="0345E4"/>
                </a:solidFill>
                <a:latin typeface="Garet Bold"/>
              </a:rPr>
              <a:t>Primary Objectives</a:t>
            </a:r>
          </a:p>
        </p:txBody>
      </p:sp>
      <p:grpSp>
        <p:nvGrpSpPr>
          <p:cNvPr name="Group 8" id="8"/>
          <p:cNvGrpSpPr/>
          <p:nvPr/>
        </p:nvGrpSpPr>
        <p:grpSpPr>
          <a:xfrm rot="0">
            <a:off x="8526561" y="2737415"/>
            <a:ext cx="732337" cy="73233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2659"/>
                </a:lnSpc>
              </a:pPr>
              <a:r>
                <a:rPr lang="en-US" sz="1899">
                  <a:solidFill>
                    <a:srgbClr val="FFFFFF"/>
                  </a:solidFill>
                  <a:latin typeface="Garet Bold"/>
                </a:rPr>
                <a:t>01</a:t>
              </a:r>
            </a:p>
          </p:txBody>
        </p:sp>
      </p:grpSp>
      <p:sp>
        <p:nvSpPr>
          <p:cNvPr name="TextBox 11" id="11"/>
          <p:cNvSpPr txBox="true"/>
          <p:nvPr/>
        </p:nvSpPr>
        <p:spPr>
          <a:xfrm rot="0">
            <a:off x="9483706" y="2535445"/>
            <a:ext cx="8322924" cy="1581150"/>
          </a:xfrm>
          <a:prstGeom prst="rect">
            <a:avLst/>
          </a:prstGeom>
        </p:spPr>
        <p:txBody>
          <a:bodyPr anchor="t" rtlCol="false" tIns="0" lIns="0" bIns="0" rIns="0">
            <a:spAutoFit/>
          </a:bodyPr>
          <a:lstStyle/>
          <a:p>
            <a:pPr>
              <a:lnSpc>
                <a:spcPts val="4200"/>
              </a:lnSpc>
            </a:pPr>
            <a:r>
              <a:rPr lang="en-US" sz="3000">
                <a:solidFill>
                  <a:srgbClr val="0345E4"/>
                </a:solidFill>
                <a:latin typeface="Garet Bold"/>
              </a:rPr>
              <a:t>Understand the key factors that influence loan approval decisions.</a:t>
            </a:r>
          </a:p>
          <a:p>
            <a:pPr>
              <a:lnSpc>
                <a:spcPts val="4200"/>
              </a:lnSpc>
            </a:pPr>
          </a:p>
        </p:txBody>
      </p:sp>
      <p:grpSp>
        <p:nvGrpSpPr>
          <p:cNvPr name="Group 12" id="12"/>
          <p:cNvGrpSpPr/>
          <p:nvPr/>
        </p:nvGrpSpPr>
        <p:grpSpPr>
          <a:xfrm rot="0">
            <a:off x="8526561" y="5205035"/>
            <a:ext cx="732337" cy="73233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name="TextBox 14" id="14"/>
            <p:cNvSpPr txBox="true"/>
            <p:nvPr/>
          </p:nvSpPr>
          <p:spPr>
            <a:xfrm>
              <a:off x="76200" y="47625"/>
              <a:ext cx="660400" cy="688975"/>
            </a:xfrm>
            <a:prstGeom prst="rect">
              <a:avLst/>
            </a:prstGeom>
          </p:spPr>
          <p:txBody>
            <a:bodyPr anchor="ctr" rtlCol="false" tIns="50800" lIns="50800" bIns="50800" rIns="50800"/>
            <a:lstStyle/>
            <a:p>
              <a:pPr algn="ctr">
                <a:lnSpc>
                  <a:spcPts val="2659"/>
                </a:lnSpc>
              </a:pPr>
              <a:r>
                <a:rPr lang="en-US" sz="1899">
                  <a:solidFill>
                    <a:srgbClr val="FFFFFF"/>
                  </a:solidFill>
                  <a:latin typeface="Garet Bold"/>
                </a:rPr>
                <a:t>02</a:t>
              </a:r>
            </a:p>
          </p:txBody>
        </p:sp>
      </p:grpSp>
      <p:sp>
        <p:nvSpPr>
          <p:cNvPr name="TextBox 15" id="15"/>
          <p:cNvSpPr txBox="true"/>
          <p:nvPr/>
        </p:nvSpPr>
        <p:spPr>
          <a:xfrm rot="0">
            <a:off x="9483706" y="4745245"/>
            <a:ext cx="8322924" cy="2066925"/>
          </a:xfrm>
          <a:prstGeom prst="rect">
            <a:avLst/>
          </a:prstGeom>
        </p:spPr>
        <p:txBody>
          <a:bodyPr anchor="t" rtlCol="false" tIns="0" lIns="0" bIns="0" rIns="0">
            <a:spAutoFit/>
          </a:bodyPr>
          <a:lstStyle/>
          <a:p>
            <a:pPr>
              <a:lnSpc>
                <a:spcPts val="4199"/>
              </a:lnSpc>
            </a:pPr>
            <a:r>
              <a:rPr lang="en-US" sz="2999">
                <a:solidFill>
                  <a:srgbClr val="0345E4"/>
                </a:solidFill>
                <a:latin typeface="Garet Bold"/>
              </a:rPr>
              <a:t>Build a predictive model to estimate the likelihood of loan approval for new applicants.</a:t>
            </a:r>
          </a:p>
          <a:p>
            <a:pPr>
              <a:lnSpc>
                <a:spcPts val="4199"/>
              </a:lnSpc>
            </a:pPr>
          </a:p>
        </p:txBody>
      </p:sp>
      <p:grpSp>
        <p:nvGrpSpPr>
          <p:cNvPr name="Group 16" id="16"/>
          <p:cNvGrpSpPr/>
          <p:nvPr/>
        </p:nvGrpSpPr>
        <p:grpSpPr>
          <a:xfrm rot="0">
            <a:off x="8526561" y="7844612"/>
            <a:ext cx="732337" cy="73233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name="TextBox 18" id="18"/>
            <p:cNvSpPr txBox="true"/>
            <p:nvPr/>
          </p:nvSpPr>
          <p:spPr>
            <a:xfrm>
              <a:off x="76200" y="47625"/>
              <a:ext cx="660400" cy="688975"/>
            </a:xfrm>
            <a:prstGeom prst="rect">
              <a:avLst/>
            </a:prstGeom>
          </p:spPr>
          <p:txBody>
            <a:bodyPr anchor="ctr" rtlCol="false" tIns="50800" lIns="50800" bIns="50800" rIns="50800"/>
            <a:lstStyle/>
            <a:p>
              <a:pPr algn="ctr">
                <a:lnSpc>
                  <a:spcPts val="2659"/>
                </a:lnSpc>
              </a:pPr>
              <a:r>
                <a:rPr lang="en-US" sz="1899">
                  <a:solidFill>
                    <a:srgbClr val="FFFFFF"/>
                  </a:solidFill>
                  <a:latin typeface="Garet Bold"/>
                </a:rPr>
                <a:t>03</a:t>
              </a:r>
            </a:p>
          </p:txBody>
        </p:sp>
      </p:grpSp>
      <p:grpSp>
        <p:nvGrpSpPr>
          <p:cNvPr name="Group 19" id="19"/>
          <p:cNvGrpSpPr/>
          <p:nvPr/>
        </p:nvGrpSpPr>
        <p:grpSpPr>
          <a:xfrm rot="0">
            <a:off x="15740861" y="6749958"/>
            <a:ext cx="4596322" cy="459632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9483706" y="7519674"/>
            <a:ext cx="8322924" cy="2066925"/>
          </a:xfrm>
          <a:prstGeom prst="rect">
            <a:avLst/>
          </a:prstGeom>
        </p:spPr>
        <p:txBody>
          <a:bodyPr anchor="t" rtlCol="false" tIns="0" lIns="0" bIns="0" rIns="0">
            <a:spAutoFit/>
          </a:bodyPr>
          <a:lstStyle/>
          <a:p>
            <a:pPr>
              <a:lnSpc>
                <a:spcPts val="4199"/>
              </a:lnSpc>
            </a:pPr>
            <a:r>
              <a:rPr lang="en-US" sz="2999">
                <a:solidFill>
                  <a:srgbClr val="0345E4"/>
                </a:solidFill>
                <a:latin typeface="Garet Bold"/>
              </a:rPr>
              <a:t>Enhance customer service by prioritizing applicants who are more likely to have their loans approved.</a:t>
            </a:r>
          </a:p>
          <a:p>
            <a:pPr>
              <a:lnSpc>
                <a:spcPts val="4199"/>
              </a:lnSpc>
            </a:pPr>
          </a:p>
        </p:txBody>
      </p:sp>
      <p:grpSp>
        <p:nvGrpSpPr>
          <p:cNvPr name="Group 23" id="23"/>
          <p:cNvGrpSpPr/>
          <p:nvPr/>
        </p:nvGrpSpPr>
        <p:grpSpPr>
          <a:xfrm rot="5400000">
            <a:off x="17259300" y="256976"/>
            <a:ext cx="771724" cy="771724"/>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5400000">
            <a:off x="241096" y="9288578"/>
            <a:ext cx="596043" cy="596043"/>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1028700" y="361909"/>
            <a:ext cx="6708381" cy="811531"/>
          </a:xfrm>
          <a:prstGeom prst="rect">
            <a:avLst/>
          </a:prstGeom>
        </p:spPr>
        <p:txBody>
          <a:bodyPr anchor="t" rtlCol="false" tIns="0" lIns="0" bIns="0" rIns="0">
            <a:spAutoFit/>
          </a:bodyPr>
          <a:lstStyle/>
          <a:p>
            <a:pPr>
              <a:lnSpc>
                <a:spcPts val="6719"/>
              </a:lnSpc>
            </a:pPr>
            <a:r>
              <a:rPr lang="en-US" sz="4799">
                <a:solidFill>
                  <a:srgbClr val="FFFFFF"/>
                </a:solidFill>
                <a:latin typeface="Garet Bold"/>
              </a:rPr>
              <a:t>Introduction</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028700" y="1395570"/>
            <a:ext cx="1310100" cy="0"/>
          </a:xfrm>
          <a:prstGeom prst="line">
            <a:avLst/>
          </a:prstGeom>
          <a:ln cap="flat" w="95250">
            <a:solidFill>
              <a:srgbClr val="FFFFFF"/>
            </a:solidFill>
            <a:prstDash val="solid"/>
            <a:headEnd type="none" len="sm" w="sm"/>
            <a:tailEnd type="none" len="sm" w="sm"/>
          </a:ln>
        </p:spPr>
      </p:sp>
      <p:sp>
        <p:nvSpPr>
          <p:cNvPr name="TextBox 3" id="3"/>
          <p:cNvSpPr txBox="true"/>
          <p:nvPr/>
        </p:nvSpPr>
        <p:spPr>
          <a:xfrm rot="0">
            <a:off x="1307217" y="365282"/>
            <a:ext cx="5386878" cy="854076"/>
          </a:xfrm>
          <a:prstGeom prst="rect">
            <a:avLst/>
          </a:prstGeom>
        </p:spPr>
        <p:txBody>
          <a:bodyPr anchor="t" rtlCol="false" tIns="0" lIns="0" bIns="0" rIns="0">
            <a:spAutoFit/>
          </a:bodyPr>
          <a:lstStyle/>
          <a:p>
            <a:pPr>
              <a:lnSpc>
                <a:spcPts val="6999"/>
              </a:lnSpc>
            </a:pPr>
            <a:r>
              <a:rPr lang="en-US" sz="4999" spc="99">
                <a:solidFill>
                  <a:srgbClr val="FFFFFF"/>
                </a:solidFill>
                <a:latin typeface="Garet Bold"/>
              </a:rPr>
              <a:t>INTRODUCTION</a:t>
            </a:r>
          </a:p>
        </p:txBody>
      </p:sp>
      <p:sp>
        <p:nvSpPr>
          <p:cNvPr name="TextBox 4" id="4"/>
          <p:cNvSpPr txBox="true"/>
          <p:nvPr/>
        </p:nvSpPr>
        <p:spPr>
          <a:xfrm rot="0">
            <a:off x="539118" y="1673114"/>
            <a:ext cx="6923076" cy="7552055"/>
          </a:xfrm>
          <a:prstGeom prst="rect">
            <a:avLst/>
          </a:prstGeom>
        </p:spPr>
        <p:txBody>
          <a:bodyPr anchor="t" rtlCol="false" tIns="0" lIns="0" bIns="0" rIns="0">
            <a:spAutoFit/>
          </a:bodyPr>
          <a:lstStyle/>
          <a:p>
            <a:pPr algn="just" marL="561339" indent="-280669" lvl="1">
              <a:lnSpc>
                <a:spcPts val="4029"/>
              </a:lnSpc>
              <a:buFont typeface="Arial"/>
              <a:buChar char="•"/>
            </a:pPr>
            <a:r>
              <a:rPr lang="en-US" sz="2599">
                <a:solidFill>
                  <a:srgbClr val="FFFFFF"/>
                </a:solidFill>
                <a:latin typeface="Open Sans Bold"/>
              </a:rPr>
              <a:t>The Loan Approval Prediction project aims to develop a predictive model that can determine whether a loan application will be approved or rejected by a bank. </a:t>
            </a:r>
          </a:p>
          <a:p>
            <a:pPr algn="just">
              <a:lnSpc>
                <a:spcPts val="4029"/>
              </a:lnSpc>
            </a:pPr>
          </a:p>
          <a:p>
            <a:pPr algn="just" marL="561339" indent="-280669" lvl="1">
              <a:lnSpc>
                <a:spcPts val="4029"/>
              </a:lnSpc>
              <a:buFont typeface="Arial"/>
              <a:buChar char="•"/>
            </a:pPr>
            <a:r>
              <a:rPr lang="en-US" sz="2599">
                <a:solidFill>
                  <a:srgbClr val="FFFFFF"/>
                </a:solidFill>
                <a:latin typeface="Open Sans Bold"/>
              </a:rPr>
              <a:t>It is aimed at leveraging data-driven insights to enhance decision-making and customer service in lending.</a:t>
            </a:r>
          </a:p>
          <a:p>
            <a:pPr algn="just">
              <a:lnSpc>
                <a:spcPts val="4029"/>
              </a:lnSpc>
            </a:pPr>
          </a:p>
          <a:p>
            <a:pPr algn="just" marL="561339" indent="-280669" lvl="1">
              <a:lnSpc>
                <a:spcPts val="4029"/>
              </a:lnSpc>
              <a:buFont typeface="Arial"/>
              <a:buChar char="•"/>
            </a:pPr>
            <a:r>
              <a:rPr lang="en-US" sz="2599">
                <a:solidFill>
                  <a:srgbClr val="FFFFFF"/>
                </a:solidFill>
                <a:latin typeface="Open Sans Bold"/>
              </a:rPr>
              <a:t>The model analyzes various factors and information provided by the applicant, such as loan amount, tenure, CIBIL (credit) score, education, income, and asset values.</a:t>
            </a:r>
          </a:p>
        </p:txBody>
      </p:sp>
      <p:sp>
        <p:nvSpPr>
          <p:cNvPr name="TextBox 5" id="5"/>
          <p:cNvSpPr txBox="true"/>
          <p:nvPr/>
        </p:nvSpPr>
        <p:spPr>
          <a:xfrm rot="0">
            <a:off x="5327449" y="561022"/>
            <a:ext cx="7652151" cy="936626"/>
          </a:xfrm>
          <a:prstGeom prst="rect">
            <a:avLst/>
          </a:prstGeom>
        </p:spPr>
        <p:txBody>
          <a:bodyPr anchor="t" rtlCol="false" tIns="0" lIns="0" bIns="0" rIns="0">
            <a:spAutoFit/>
          </a:bodyPr>
          <a:lstStyle/>
          <a:p>
            <a:pPr>
              <a:lnSpc>
                <a:spcPts val="7699"/>
              </a:lnSpc>
            </a:pPr>
            <a:r>
              <a:rPr lang="en-US" sz="5499">
                <a:solidFill>
                  <a:srgbClr val="0345E4"/>
                </a:solidFill>
                <a:latin typeface="Garet Bold"/>
              </a:rPr>
              <a:t>Problem Statement</a:t>
            </a:r>
          </a:p>
        </p:txBody>
      </p:sp>
      <p:sp>
        <p:nvSpPr>
          <p:cNvPr name="TextBox 6" id="6"/>
          <p:cNvSpPr txBox="true"/>
          <p:nvPr/>
        </p:nvSpPr>
        <p:spPr>
          <a:xfrm rot="0">
            <a:off x="1307217" y="2164490"/>
            <a:ext cx="15952083" cy="9883775"/>
          </a:xfrm>
          <a:prstGeom prst="rect">
            <a:avLst/>
          </a:prstGeom>
        </p:spPr>
        <p:txBody>
          <a:bodyPr anchor="t" rtlCol="false" tIns="0" lIns="0" bIns="0" rIns="0">
            <a:spAutoFit/>
          </a:bodyPr>
          <a:lstStyle/>
          <a:p>
            <a:pPr>
              <a:lnSpc>
                <a:spcPts val="4900"/>
              </a:lnSpc>
            </a:pPr>
            <a:r>
              <a:rPr lang="en-US" sz="3500">
                <a:solidFill>
                  <a:srgbClr val="0345E4"/>
                </a:solidFill>
                <a:latin typeface="Garet Bold"/>
              </a:rPr>
              <a:t>Sinha Purohit &amp; Associates LIP, represented by Mr. Sarvesh Kulkarni, faces significant challenges in their current loan approval process. The existing approach lacks efficiency and accuracy, resulting in prolonged processing times and a high risk of defaults. With a growing number of loan applications, the company struggles to prioritize applicants effectively, leading to lower customer satisfaction and increased operational costs. There's a pressing need to overcome the loan approval process to improve efficiency, reduce risk, and enhance customer service.</a:t>
            </a:r>
          </a:p>
          <a:p>
            <a:pPr>
              <a:lnSpc>
                <a:spcPts val="4900"/>
              </a:lnSpc>
            </a:pPr>
          </a:p>
          <a:p>
            <a:pPr>
              <a:lnSpc>
                <a:spcPts val="4900"/>
              </a:lnSpc>
            </a:pPr>
          </a:p>
          <a:p>
            <a:pPr>
              <a:lnSpc>
                <a:spcPts val="4900"/>
              </a:lnSpc>
            </a:pPr>
          </a:p>
          <a:p>
            <a:pPr>
              <a:lnSpc>
                <a:spcPts val="4900"/>
              </a:lnSpc>
            </a:pPr>
          </a:p>
          <a:p>
            <a:pPr>
              <a:lnSpc>
                <a:spcPts val="4900"/>
              </a:lnSpc>
            </a:pPr>
          </a:p>
          <a:p>
            <a:pPr>
              <a:lnSpc>
                <a:spcPts val="4900"/>
              </a:lnSpc>
            </a:pPr>
          </a:p>
          <a:p>
            <a:pPr>
              <a:lnSpc>
                <a:spcPts val="4900"/>
              </a:lnSpc>
            </a:pPr>
          </a:p>
        </p:txBody>
      </p:sp>
      <p:grpSp>
        <p:nvGrpSpPr>
          <p:cNvPr name="Group 7" id="7"/>
          <p:cNvGrpSpPr/>
          <p:nvPr/>
        </p:nvGrpSpPr>
        <p:grpSpPr>
          <a:xfrm rot="0">
            <a:off x="15740861" y="6749958"/>
            <a:ext cx="4596322" cy="459632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5400000">
            <a:off x="17259300" y="279935"/>
            <a:ext cx="771724" cy="77172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5400000">
            <a:off x="8662855" y="9288578"/>
            <a:ext cx="596043" cy="59604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5400000">
            <a:off x="256976" y="9200737"/>
            <a:ext cx="771724" cy="77172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028700" y="1395570"/>
            <a:ext cx="1310100" cy="0"/>
          </a:xfrm>
          <a:prstGeom prst="line">
            <a:avLst/>
          </a:prstGeom>
          <a:ln cap="flat" w="95250">
            <a:solidFill>
              <a:srgbClr val="FFFFFF"/>
            </a:solidFill>
            <a:prstDash val="solid"/>
            <a:headEnd type="none" len="sm" w="sm"/>
            <a:tailEnd type="none" len="sm" w="sm"/>
          </a:ln>
        </p:spPr>
      </p:sp>
      <p:sp>
        <p:nvSpPr>
          <p:cNvPr name="TextBox 3" id="3"/>
          <p:cNvSpPr txBox="true"/>
          <p:nvPr/>
        </p:nvSpPr>
        <p:spPr>
          <a:xfrm rot="0">
            <a:off x="1307217" y="365282"/>
            <a:ext cx="5386878" cy="854076"/>
          </a:xfrm>
          <a:prstGeom prst="rect">
            <a:avLst/>
          </a:prstGeom>
        </p:spPr>
        <p:txBody>
          <a:bodyPr anchor="t" rtlCol="false" tIns="0" lIns="0" bIns="0" rIns="0">
            <a:spAutoFit/>
          </a:bodyPr>
          <a:lstStyle/>
          <a:p>
            <a:pPr>
              <a:lnSpc>
                <a:spcPts val="6999"/>
              </a:lnSpc>
            </a:pPr>
            <a:r>
              <a:rPr lang="en-US" sz="4999" spc="99">
                <a:solidFill>
                  <a:srgbClr val="FFFFFF"/>
                </a:solidFill>
                <a:latin typeface="Garet Bold"/>
              </a:rPr>
              <a:t>INTRODUCTION</a:t>
            </a:r>
          </a:p>
        </p:txBody>
      </p:sp>
      <p:sp>
        <p:nvSpPr>
          <p:cNvPr name="TextBox 4" id="4"/>
          <p:cNvSpPr txBox="true"/>
          <p:nvPr/>
        </p:nvSpPr>
        <p:spPr>
          <a:xfrm rot="0">
            <a:off x="539118" y="1673114"/>
            <a:ext cx="6923076" cy="7552055"/>
          </a:xfrm>
          <a:prstGeom prst="rect">
            <a:avLst/>
          </a:prstGeom>
        </p:spPr>
        <p:txBody>
          <a:bodyPr anchor="t" rtlCol="false" tIns="0" lIns="0" bIns="0" rIns="0">
            <a:spAutoFit/>
          </a:bodyPr>
          <a:lstStyle/>
          <a:p>
            <a:pPr algn="just" marL="561339" indent="-280669" lvl="1">
              <a:lnSpc>
                <a:spcPts val="4029"/>
              </a:lnSpc>
              <a:buFont typeface="Arial"/>
              <a:buChar char="•"/>
            </a:pPr>
            <a:r>
              <a:rPr lang="en-US" sz="2599">
                <a:solidFill>
                  <a:srgbClr val="FFFFFF"/>
                </a:solidFill>
                <a:latin typeface="Open Sans Bold"/>
              </a:rPr>
              <a:t>The Loan Approval Prediction project aims to develop a predictive model that can determine whether a loan application will be approved or rejected by a bank. </a:t>
            </a:r>
          </a:p>
          <a:p>
            <a:pPr algn="just">
              <a:lnSpc>
                <a:spcPts val="4029"/>
              </a:lnSpc>
            </a:pPr>
          </a:p>
          <a:p>
            <a:pPr algn="just" marL="561339" indent="-280669" lvl="1">
              <a:lnSpc>
                <a:spcPts val="4029"/>
              </a:lnSpc>
              <a:buFont typeface="Arial"/>
              <a:buChar char="•"/>
            </a:pPr>
            <a:r>
              <a:rPr lang="en-US" sz="2599">
                <a:solidFill>
                  <a:srgbClr val="FFFFFF"/>
                </a:solidFill>
                <a:latin typeface="Open Sans Bold"/>
              </a:rPr>
              <a:t>It is aimed at leveraging data-driven insights to enhance decision-making and customer service in lending.</a:t>
            </a:r>
          </a:p>
          <a:p>
            <a:pPr algn="just">
              <a:lnSpc>
                <a:spcPts val="4029"/>
              </a:lnSpc>
            </a:pPr>
          </a:p>
          <a:p>
            <a:pPr algn="just" marL="561339" indent="-280669" lvl="1">
              <a:lnSpc>
                <a:spcPts val="4029"/>
              </a:lnSpc>
              <a:buFont typeface="Arial"/>
              <a:buChar char="•"/>
            </a:pPr>
            <a:r>
              <a:rPr lang="en-US" sz="2599">
                <a:solidFill>
                  <a:srgbClr val="FFFFFF"/>
                </a:solidFill>
                <a:latin typeface="Open Sans Bold"/>
              </a:rPr>
              <a:t>The model analyzes various factors and information provided by the applicant, such as loan amount, tenure, CIBIL (credit) score, education, income, and asset values.</a:t>
            </a:r>
          </a:p>
        </p:txBody>
      </p:sp>
      <p:sp>
        <p:nvSpPr>
          <p:cNvPr name="TextBox 5" id="5"/>
          <p:cNvSpPr txBox="true"/>
          <p:nvPr/>
        </p:nvSpPr>
        <p:spPr>
          <a:xfrm rot="0">
            <a:off x="5003334" y="561022"/>
            <a:ext cx="8281331" cy="936626"/>
          </a:xfrm>
          <a:prstGeom prst="rect">
            <a:avLst/>
          </a:prstGeom>
        </p:spPr>
        <p:txBody>
          <a:bodyPr anchor="t" rtlCol="false" tIns="0" lIns="0" bIns="0" rIns="0">
            <a:spAutoFit/>
          </a:bodyPr>
          <a:lstStyle/>
          <a:p>
            <a:pPr>
              <a:lnSpc>
                <a:spcPts val="7699"/>
              </a:lnSpc>
            </a:pPr>
            <a:r>
              <a:rPr lang="en-US" sz="5499">
                <a:solidFill>
                  <a:srgbClr val="0345E4"/>
                </a:solidFill>
                <a:latin typeface="Garet Bold"/>
              </a:rPr>
              <a:t>Scope of the Solution</a:t>
            </a:r>
          </a:p>
        </p:txBody>
      </p:sp>
      <p:sp>
        <p:nvSpPr>
          <p:cNvPr name="TextBox 6" id="6"/>
          <p:cNvSpPr txBox="true"/>
          <p:nvPr/>
        </p:nvSpPr>
        <p:spPr>
          <a:xfrm rot="0">
            <a:off x="642838" y="2164490"/>
            <a:ext cx="17002324" cy="7407275"/>
          </a:xfrm>
          <a:prstGeom prst="rect">
            <a:avLst/>
          </a:prstGeom>
        </p:spPr>
        <p:txBody>
          <a:bodyPr anchor="t" rtlCol="false" tIns="0" lIns="0" bIns="0" rIns="0">
            <a:spAutoFit/>
          </a:bodyPr>
          <a:lstStyle/>
          <a:p>
            <a:pPr>
              <a:lnSpc>
                <a:spcPts val="4900"/>
              </a:lnSpc>
            </a:pPr>
            <a:r>
              <a:rPr lang="en-US" sz="3500">
                <a:solidFill>
                  <a:srgbClr val="0345E4"/>
                </a:solidFill>
                <a:latin typeface="Garet Bold"/>
              </a:rPr>
              <a:t>The solution offered by the Loan Approval Prediction project addresses the critical issues of lacking efficiency and accuracy in the loan approval process. By leveraging predictive modeling techniques and analyzing various applicant factors, including loan amount, tenure, CIBIL score, and assets, the solution aims to revolutionize the way banks assess loan applications. Through the development of robust predictive models, decision-makers will be empowered to prioritize applications with higher chances of approval, thereby streamlining the process and reducing processing times. This approach not only enhances operational efficiency but also improves the accuracy and reliability of loan approvals, leading to better risk management and increased customer satisfaction.</a:t>
            </a:r>
          </a:p>
        </p:txBody>
      </p:sp>
      <p:grpSp>
        <p:nvGrpSpPr>
          <p:cNvPr name="Group 7" id="7"/>
          <p:cNvGrpSpPr/>
          <p:nvPr/>
        </p:nvGrpSpPr>
        <p:grpSpPr>
          <a:xfrm rot="5400000">
            <a:off x="17259300" y="9185903"/>
            <a:ext cx="771724" cy="77172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5400000">
            <a:off x="8662855" y="9288578"/>
            <a:ext cx="596043" cy="59604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5400000">
            <a:off x="256976" y="252371"/>
            <a:ext cx="771724" cy="77172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3951" y="6954065"/>
            <a:ext cx="5421286" cy="2799389"/>
            <a:chOff x="0" y="0"/>
            <a:chExt cx="1427828" cy="737288"/>
          </a:xfrm>
        </p:grpSpPr>
        <p:sp>
          <p:nvSpPr>
            <p:cNvPr name="Freeform 3" id="3"/>
            <p:cNvSpPr/>
            <p:nvPr/>
          </p:nvSpPr>
          <p:spPr>
            <a:xfrm flipH="false" flipV="false" rot="0">
              <a:off x="0" y="0"/>
              <a:ext cx="1427828" cy="737288"/>
            </a:xfrm>
            <a:custGeom>
              <a:avLst/>
              <a:gdLst/>
              <a:ahLst/>
              <a:cxnLst/>
              <a:rect r="r" b="b" t="t" l="l"/>
              <a:pathLst>
                <a:path h="737288" w="1427828">
                  <a:moveTo>
                    <a:pt x="72831" y="0"/>
                  </a:moveTo>
                  <a:lnTo>
                    <a:pt x="1354997" y="0"/>
                  </a:lnTo>
                  <a:cubicBezTo>
                    <a:pt x="1374313" y="0"/>
                    <a:pt x="1392838" y="7673"/>
                    <a:pt x="1406497" y="21332"/>
                  </a:cubicBezTo>
                  <a:cubicBezTo>
                    <a:pt x="1420155" y="34990"/>
                    <a:pt x="1427828" y="53515"/>
                    <a:pt x="1427828" y="72831"/>
                  </a:cubicBezTo>
                  <a:lnTo>
                    <a:pt x="1427828" y="664457"/>
                  </a:lnTo>
                  <a:cubicBezTo>
                    <a:pt x="1427828" y="704680"/>
                    <a:pt x="1395221" y="737288"/>
                    <a:pt x="1354997" y="737288"/>
                  </a:cubicBezTo>
                  <a:lnTo>
                    <a:pt x="72831" y="737288"/>
                  </a:lnTo>
                  <a:cubicBezTo>
                    <a:pt x="32608" y="737288"/>
                    <a:pt x="0" y="704680"/>
                    <a:pt x="0" y="664457"/>
                  </a:cubicBezTo>
                  <a:lnTo>
                    <a:pt x="0" y="72831"/>
                  </a:lnTo>
                  <a:cubicBezTo>
                    <a:pt x="0" y="32608"/>
                    <a:pt x="32608" y="0"/>
                    <a:pt x="72831" y="0"/>
                  </a:cubicBezTo>
                  <a:close/>
                </a:path>
              </a:pathLst>
            </a:custGeom>
            <a:solidFill>
              <a:srgbClr val="0345E4"/>
            </a:solidFill>
          </p:spPr>
        </p:sp>
        <p:sp>
          <p:nvSpPr>
            <p:cNvPr name="TextBox 4" id="4"/>
            <p:cNvSpPr txBox="true"/>
            <p:nvPr/>
          </p:nvSpPr>
          <p:spPr>
            <a:xfrm>
              <a:off x="0" y="-38100"/>
              <a:ext cx="1427828" cy="77538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19853" y="3187935"/>
            <a:ext cx="5089482" cy="6417970"/>
            <a:chOff x="0" y="0"/>
            <a:chExt cx="1340440" cy="1690329"/>
          </a:xfrm>
        </p:grpSpPr>
        <p:sp>
          <p:nvSpPr>
            <p:cNvPr name="Freeform 6" id="6"/>
            <p:cNvSpPr/>
            <p:nvPr/>
          </p:nvSpPr>
          <p:spPr>
            <a:xfrm flipH="false" flipV="false" rot="0">
              <a:off x="0" y="0"/>
              <a:ext cx="1340440" cy="1690329"/>
            </a:xfrm>
            <a:custGeom>
              <a:avLst/>
              <a:gdLst/>
              <a:ahLst/>
              <a:cxnLst/>
              <a:rect r="r" b="b" t="t" l="l"/>
              <a:pathLst>
                <a:path h="1690329" w="1340440">
                  <a:moveTo>
                    <a:pt x="77579" y="0"/>
                  </a:moveTo>
                  <a:lnTo>
                    <a:pt x="1262861" y="0"/>
                  </a:lnTo>
                  <a:cubicBezTo>
                    <a:pt x="1305707" y="0"/>
                    <a:pt x="1340440" y="34733"/>
                    <a:pt x="1340440" y="77579"/>
                  </a:cubicBezTo>
                  <a:lnTo>
                    <a:pt x="1340440" y="1612750"/>
                  </a:lnTo>
                  <a:cubicBezTo>
                    <a:pt x="1340440" y="1633325"/>
                    <a:pt x="1332266" y="1653058"/>
                    <a:pt x="1317717" y="1667607"/>
                  </a:cubicBezTo>
                  <a:cubicBezTo>
                    <a:pt x="1303169" y="1682156"/>
                    <a:pt x="1283436" y="1690329"/>
                    <a:pt x="1262861" y="1690329"/>
                  </a:cubicBezTo>
                  <a:lnTo>
                    <a:pt x="77579" y="1690329"/>
                  </a:lnTo>
                  <a:cubicBezTo>
                    <a:pt x="34733" y="1690329"/>
                    <a:pt x="0" y="1655596"/>
                    <a:pt x="0" y="1612750"/>
                  </a:cubicBezTo>
                  <a:lnTo>
                    <a:pt x="0" y="77579"/>
                  </a:lnTo>
                  <a:cubicBezTo>
                    <a:pt x="0" y="57004"/>
                    <a:pt x="8173" y="37271"/>
                    <a:pt x="22722" y="22722"/>
                  </a:cubicBezTo>
                  <a:cubicBezTo>
                    <a:pt x="37271" y="8173"/>
                    <a:pt x="57004" y="0"/>
                    <a:pt x="77579" y="0"/>
                  </a:cubicBezTo>
                  <a:close/>
                </a:path>
              </a:pathLst>
            </a:custGeom>
            <a:solidFill>
              <a:srgbClr val="E8ECEC"/>
            </a:solidFill>
          </p:spPr>
        </p:sp>
        <p:sp>
          <p:nvSpPr>
            <p:cNvPr name="TextBox 7" id="7"/>
            <p:cNvSpPr txBox="true"/>
            <p:nvPr/>
          </p:nvSpPr>
          <p:spPr>
            <a:xfrm>
              <a:off x="0" y="-38100"/>
              <a:ext cx="1340440" cy="172842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358848" y="2082188"/>
            <a:ext cx="2211493" cy="221149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6434302" y="6954065"/>
            <a:ext cx="5421286" cy="2799389"/>
            <a:chOff x="0" y="0"/>
            <a:chExt cx="1427828" cy="737288"/>
          </a:xfrm>
        </p:grpSpPr>
        <p:sp>
          <p:nvSpPr>
            <p:cNvPr name="Freeform 12" id="12"/>
            <p:cNvSpPr/>
            <p:nvPr/>
          </p:nvSpPr>
          <p:spPr>
            <a:xfrm flipH="false" flipV="false" rot="0">
              <a:off x="0" y="0"/>
              <a:ext cx="1427828" cy="737288"/>
            </a:xfrm>
            <a:custGeom>
              <a:avLst/>
              <a:gdLst/>
              <a:ahLst/>
              <a:cxnLst/>
              <a:rect r="r" b="b" t="t" l="l"/>
              <a:pathLst>
                <a:path h="737288" w="1427828">
                  <a:moveTo>
                    <a:pt x="72831" y="0"/>
                  </a:moveTo>
                  <a:lnTo>
                    <a:pt x="1354997" y="0"/>
                  </a:lnTo>
                  <a:cubicBezTo>
                    <a:pt x="1374313" y="0"/>
                    <a:pt x="1392838" y="7673"/>
                    <a:pt x="1406497" y="21332"/>
                  </a:cubicBezTo>
                  <a:cubicBezTo>
                    <a:pt x="1420155" y="34990"/>
                    <a:pt x="1427828" y="53515"/>
                    <a:pt x="1427828" y="72831"/>
                  </a:cubicBezTo>
                  <a:lnTo>
                    <a:pt x="1427828" y="664457"/>
                  </a:lnTo>
                  <a:cubicBezTo>
                    <a:pt x="1427828" y="704680"/>
                    <a:pt x="1395221" y="737288"/>
                    <a:pt x="1354997" y="737288"/>
                  </a:cubicBezTo>
                  <a:lnTo>
                    <a:pt x="72831" y="737288"/>
                  </a:lnTo>
                  <a:cubicBezTo>
                    <a:pt x="32608" y="737288"/>
                    <a:pt x="0" y="704680"/>
                    <a:pt x="0" y="664457"/>
                  </a:cubicBezTo>
                  <a:lnTo>
                    <a:pt x="0" y="72831"/>
                  </a:lnTo>
                  <a:cubicBezTo>
                    <a:pt x="0" y="32608"/>
                    <a:pt x="32608" y="0"/>
                    <a:pt x="72831" y="0"/>
                  </a:cubicBezTo>
                  <a:close/>
                </a:path>
              </a:pathLst>
            </a:custGeom>
            <a:solidFill>
              <a:srgbClr val="0345E4"/>
            </a:solidFill>
          </p:spPr>
        </p:sp>
        <p:sp>
          <p:nvSpPr>
            <p:cNvPr name="TextBox 13" id="13"/>
            <p:cNvSpPr txBox="true"/>
            <p:nvPr/>
          </p:nvSpPr>
          <p:spPr>
            <a:xfrm>
              <a:off x="0" y="-38100"/>
              <a:ext cx="1427828" cy="775388"/>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6600203" y="3187935"/>
            <a:ext cx="5089482" cy="6417970"/>
            <a:chOff x="0" y="0"/>
            <a:chExt cx="1340440" cy="1690329"/>
          </a:xfrm>
        </p:grpSpPr>
        <p:sp>
          <p:nvSpPr>
            <p:cNvPr name="Freeform 15" id="15"/>
            <p:cNvSpPr/>
            <p:nvPr/>
          </p:nvSpPr>
          <p:spPr>
            <a:xfrm flipH="false" flipV="false" rot="0">
              <a:off x="0" y="0"/>
              <a:ext cx="1340440" cy="1690329"/>
            </a:xfrm>
            <a:custGeom>
              <a:avLst/>
              <a:gdLst/>
              <a:ahLst/>
              <a:cxnLst/>
              <a:rect r="r" b="b" t="t" l="l"/>
              <a:pathLst>
                <a:path h="1690329" w="1340440">
                  <a:moveTo>
                    <a:pt x="77579" y="0"/>
                  </a:moveTo>
                  <a:lnTo>
                    <a:pt x="1262861" y="0"/>
                  </a:lnTo>
                  <a:cubicBezTo>
                    <a:pt x="1305707" y="0"/>
                    <a:pt x="1340440" y="34733"/>
                    <a:pt x="1340440" y="77579"/>
                  </a:cubicBezTo>
                  <a:lnTo>
                    <a:pt x="1340440" y="1612750"/>
                  </a:lnTo>
                  <a:cubicBezTo>
                    <a:pt x="1340440" y="1633325"/>
                    <a:pt x="1332266" y="1653058"/>
                    <a:pt x="1317717" y="1667607"/>
                  </a:cubicBezTo>
                  <a:cubicBezTo>
                    <a:pt x="1303169" y="1682156"/>
                    <a:pt x="1283436" y="1690329"/>
                    <a:pt x="1262861" y="1690329"/>
                  </a:cubicBezTo>
                  <a:lnTo>
                    <a:pt x="77579" y="1690329"/>
                  </a:lnTo>
                  <a:cubicBezTo>
                    <a:pt x="34733" y="1690329"/>
                    <a:pt x="0" y="1655596"/>
                    <a:pt x="0" y="1612750"/>
                  </a:cubicBezTo>
                  <a:lnTo>
                    <a:pt x="0" y="77579"/>
                  </a:lnTo>
                  <a:cubicBezTo>
                    <a:pt x="0" y="57004"/>
                    <a:pt x="8173" y="37271"/>
                    <a:pt x="22722" y="22722"/>
                  </a:cubicBezTo>
                  <a:cubicBezTo>
                    <a:pt x="37271" y="8173"/>
                    <a:pt x="57004" y="0"/>
                    <a:pt x="77579" y="0"/>
                  </a:cubicBezTo>
                  <a:close/>
                </a:path>
              </a:pathLst>
            </a:custGeom>
            <a:solidFill>
              <a:srgbClr val="E8ECEC"/>
            </a:solidFill>
          </p:spPr>
        </p:sp>
        <p:sp>
          <p:nvSpPr>
            <p:cNvPr name="TextBox 16" id="16"/>
            <p:cNvSpPr txBox="true"/>
            <p:nvPr/>
          </p:nvSpPr>
          <p:spPr>
            <a:xfrm>
              <a:off x="0" y="-38100"/>
              <a:ext cx="1340440" cy="1728429"/>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8039198" y="2082188"/>
            <a:ext cx="2211493" cy="221149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2112763" y="6954065"/>
            <a:ext cx="5421286" cy="2799389"/>
            <a:chOff x="0" y="0"/>
            <a:chExt cx="1427828" cy="737288"/>
          </a:xfrm>
        </p:grpSpPr>
        <p:sp>
          <p:nvSpPr>
            <p:cNvPr name="Freeform 21" id="21"/>
            <p:cNvSpPr/>
            <p:nvPr/>
          </p:nvSpPr>
          <p:spPr>
            <a:xfrm flipH="false" flipV="false" rot="0">
              <a:off x="0" y="0"/>
              <a:ext cx="1427828" cy="737288"/>
            </a:xfrm>
            <a:custGeom>
              <a:avLst/>
              <a:gdLst/>
              <a:ahLst/>
              <a:cxnLst/>
              <a:rect r="r" b="b" t="t" l="l"/>
              <a:pathLst>
                <a:path h="737288" w="1427828">
                  <a:moveTo>
                    <a:pt x="72831" y="0"/>
                  </a:moveTo>
                  <a:lnTo>
                    <a:pt x="1354997" y="0"/>
                  </a:lnTo>
                  <a:cubicBezTo>
                    <a:pt x="1374313" y="0"/>
                    <a:pt x="1392838" y="7673"/>
                    <a:pt x="1406497" y="21332"/>
                  </a:cubicBezTo>
                  <a:cubicBezTo>
                    <a:pt x="1420155" y="34990"/>
                    <a:pt x="1427828" y="53515"/>
                    <a:pt x="1427828" y="72831"/>
                  </a:cubicBezTo>
                  <a:lnTo>
                    <a:pt x="1427828" y="664457"/>
                  </a:lnTo>
                  <a:cubicBezTo>
                    <a:pt x="1427828" y="704680"/>
                    <a:pt x="1395221" y="737288"/>
                    <a:pt x="1354997" y="737288"/>
                  </a:cubicBezTo>
                  <a:lnTo>
                    <a:pt x="72831" y="737288"/>
                  </a:lnTo>
                  <a:cubicBezTo>
                    <a:pt x="32608" y="737288"/>
                    <a:pt x="0" y="704680"/>
                    <a:pt x="0" y="664457"/>
                  </a:cubicBezTo>
                  <a:lnTo>
                    <a:pt x="0" y="72831"/>
                  </a:lnTo>
                  <a:cubicBezTo>
                    <a:pt x="0" y="32608"/>
                    <a:pt x="32608" y="0"/>
                    <a:pt x="72831" y="0"/>
                  </a:cubicBezTo>
                  <a:close/>
                </a:path>
              </a:pathLst>
            </a:custGeom>
            <a:solidFill>
              <a:srgbClr val="0345E4"/>
            </a:solidFill>
          </p:spPr>
        </p:sp>
        <p:sp>
          <p:nvSpPr>
            <p:cNvPr name="TextBox 22" id="22"/>
            <p:cNvSpPr txBox="true"/>
            <p:nvPr/>
          </p:nvSpPr>
          <p:spPr>
            <a:xfrm>
              <a:off x="0" y="-38100"/>
              <a:ext cx="1427828" cy="775388"/>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2278664" y="3187935"/>
            <a:ext cx="5089482" cy="6417970"/>
            <a:chOff x="0" y="0"/>
            <a:chExt cx="1340440" cy="1690329"/>
          </a:xfrm>
        </p:grpSpPr>
        <p:sp>
          <p:nvSpPr>
            <p:cNvPr name="Freeform 24" id="24"/>
            <p:cNvSpPr/>
            <p:nvPr/>
          </p:nvSpPr>
          <p:spPr>
            <a:xfrm flipH="false" flipV="false" rot="0">
              <a:off x="0" y="0"/>
              <a:ext cx="1340440" cy="1690329"/>
            </a:xfrm>
            <a:custGeom>
              <a:avLst/>
              <a:gdLst/>
              <a:ahLst/>
              <a:cxnLst/>
              <a:rect r="r" b="b" t="t" l="l"/>
              <a:pathLst>
                <a:path h="1690329" w="1340440">
                  <a:moveTo>
                    <a:pt x="77579" y="0"/>
                  </a:moveTo>
                  <a:lnTo>
                    <a:pt x="1262861" y="0"/>
                  </a:lnTo>
                  <a:cubicBezTo>
                    <a:pt x="1305707" y="0"/>
                    <a:pt x="1340440" y="34733"/>
                    <a:pt x="1340440" y="77579"/>
                  </a:cubicBezTo>
                  <a:lnTo>
                    <a:pt x="1340440" y="1612750"/>
                  </a:lnTo>
                  <a:cubicBezTo>
                    <a:pt x="1340440" y="1633325"/>
                    <a:pt x="1332266" y="1653058"/>
                    <a:pt x="1317717" y="1667607"/>
                  </a:cubicBezTo>
                  <a:cubicBezTo>
                    <a:pt x="1303169" y="1682156"/>
                    <a:pt x="1283436" y="1690329"/>
                    <a:pt x="1262861" y="1690329"/>
                  </a:cubicBezTo>
                  <a:lnTo>
                    <a:pt x="77579" y="1690329"/>
                  </a:lnTo>
                  <a:cubicBezTo>
                    <a:pt x="34733" y="1690329"/>
                    <a:pt x="0" y="1655596"/>
                    <a:pt x="0" y="1612750"/>
                  </a:cubicBezTo>
                  <a:lnTo>
                    <a:pt x="0" y="77579"/>
                  </a:lnTo>
                  <a:cubicBezTo>
                    <a:pt x="0" y="57004"/>
                    <a:pt x="8173" y="37271"/>
                    <a:pt x="22722" y="22722"/>
                  </a:cubicBezTo>
                  <a:cubicBezTo>
                    <a:pt x="37271" y="8173"/>
                    <a:pt x="57004" y="0"/>
                    <a:pt x="77579" y="0"/>
                  </a:cubicBezTo>
                  <a:close/>
                </a:path>
              </a:pathLst>
            </a:custGeom>
            <a:solidFill>
              <a:srgbClr val="E8ECEC"/>
            </a:solidFill>
          </p:spPr>
        </p:sp>
        <p:sp>
          <p:nvSpPr>
            <p:cNvPr name="TextBox 25" id="25"/>
            <p:cNvSpPr txBox="true"/>
            <p:nvPr/>
          </p:nvSpPr>
          <p:spPr>
            <a:xfrm>
              <a:off x="0" y="-38100"/>
              <a:ext cx="1340440" cy="1728429"/>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13717659" y="2082188"/>
            <a:ext cx="2211493" cy="2211493"/>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0" y="0"/>
            <a:ext cx="18288000" cy="1543194"/>
            <a:chOff x="0" y="0"/>
            <a:chExt cx="4816593" cy="406438"/>
          </a:xfrm>
        </p:grpSpPr>
        <p:sp>
          <p:nvSpPr>
            <p:cNvPr name="Freeform 30" id="30"/>
            <p:cNvSpPr/>
            <p:nvPr/>
          </p:nvSpPr>
          <p:spPr>
            <a:xfrm flipH="false" flipV="false" rot="0">
              <a:off x="0" y="0"/>
              <a:ext cx="4816592" cy="406438"/>
            </a:xfrm>
            <a:custGeom>
              <a:avLst/>
              <a:gdLst/>
              <a:ahLst/>
              <a:cxnLst/>
              <a:rect r="r" b="b" t="t" l="l"/>
              <a:pathLst>
                <a:path h="406438" w="4816592">
                  <a:moveTo>
                    <a:pt x="0" y="0"/>
                  </a:moveTo>
                  <a:lnTo>
                    <a:pt x="4816592" y="0"/>
                  </a:lnTo>
                  <a:lnTo>
                    <a:pt x="4816592" y="406438"/>
                  </a:lnTo>
                  <a:lnTo>
                    <a:pt x="0" y="406438"/>
                  </a:lnTo>
                  <a:close/>
                </a:path>
              </a:pathLst>
            </a:custGeom>
            <a:solidFill>
              <a:srgbClr val="0345E4"/>
            </a:solidFill>
          </p:spPr>
        </p:sp>
        <p:sp>
          <p:nvSpPr>
            <p:cNvPr name="TextBox 31" id="31"/>
            <p:cNvSpPr txBox="true"/>
            <p:nvPr/>
          </p:nvSpPr>
          <p:spPr>
            <a:xfrm>
              <a:off x="0" y="-38100"/>
              <a:ext cx="4816593" cy="444538"/>
            </a:xfrm>
            <a:prstGeom prst="rect">
              <a:avLst/>
            </a:prstGeom>
          </p:spPr>
          <p:txBody>
            <a:bodyPr anchor="ctr" rtlCol="false" tIns="50800" lIns="50800" bIns="50800" rIns="50800"/>
            <a:lstStyle/>
            <a:p>
              <a:pPr algn="ctr">
                <a:lnSpc>
                  <a:spcPts val="2659"/>
                </a:lnSpc>
              </a:pPr>
            </a:p>
          </p:txBody>
        </p:sp>
      </p:grpSp>
      <p:sp>
        <p:nvSpPr>
          <p:cNvPr name="Freeform 32" id="32"/>
          <p:cNvSpPr/>
          <p:nvPr/>
        </p:nvSpPr>
        <p:spPr>
          <a:xfrm flipH="false" flipV="false" rot="0">
            <a:off x="14128086" y="2688954"/>
            <a:ext cx="1361983" cy="997962"/>
          </a:xfrm>
          <a:custGeom>
            <a:avLst/>
            <a:gdLst/>
            <a:ahLst/>
            <a:cxnLst/>
            <a:rect r="r" b="b" t="t" l="l"/>
            <a:pathLst>
              <a:path h="997962" w="1361983">
                <a:moveTo>
                  <a:pt x="0" y="0"/>
                </a:moveTo>
                <a:lnTo>
                  <a:pt x="1361983" y="0"/>
                </a:lnTo>
                <a:lnTo>
                  <a:pt x="1361983" y="997962"/>
                </a:lnTo>
                <a:lnTo>
                  <a:pt x="0" y="9979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8444462" y="2837693"/>
            <a:ext cx="1400966" cy="700483"/>
          </a:xfrm>
          <a:custGeom>
            <a:avLst/>
            <a:gdLst/>
            <a:ahLst/>
            <a:cxnLst/>
            <a:rect r="r" b="b" t="t" l="l"/>
            <a:pathLst>
              <a:path h="700483" w="1400966">
                <a:moveTo>
                  <a:pt x="0" y="0"/>
                </a:moveTo>
                <a:lnTo>
                  <a:pt x="1400965" y="0"/>
                </a:lnTo>
                <a:lnTo>
                  <a:pt x="1400965" y="700483"/>
                </a:lnTo>
                <a:lnTo>
                  <a:pt x="0" y="7004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4" id="34"/>
          <p:cNvSpPr/>
          <p:nvPr/>
        </p:nvSpPr>
        <p:spPr>
          <a:xfrm flipH="false" flipV="false" rot="0">
            <a:off x="2932780" y="2562271"/>
            <a:ext cx="1063628" cy="1251327"/>
          </a:xfrm>
          <a:custGeom>
            <a:avLst/>
            <a:gdLst/>
            <a:ahLst/>
            <a:cxnLst/>
            <a:rect r="r" b="b" t="t" l="l"/>
            <a:pathLst>
              <a:path h="1251327" w="1063628">
                <a:moveTo>
                  <a:pt x="0" y="0"/>
                </a:moveTo>
                <a:lnTo>
                  <a:pt x="1063629" y="0"/>
                </a:lnTo>
                <a:lnTo>
                  <a:pt x="1063629" y="1251328"/>
                </a:lnTo>
                <a:lnTo>
                  <a:pt x="0" y="12513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5" id="35"/>
          <p:cNvSpPr txBox="true"/>
          <p:nvPr/>
        </p:nvSpPr>
        <p:spPr>
          <a:xfrm rot="0">
            <a:off x="753951" y="296934"/>
            <a:ext cx="17243375" cy="854076"/>
          </a:xfrm>
          <a:prstGeom prst="rect">
            <a:avLst/>
          </a:prstGeom>
        </p:spPr>
        <p:txBody>
          <a:bodyPr anchor="t" rtlCol="false" tIns="0" lIns="0" bIns="0" rIns="0">
            <a:spAutoFit/>
          </a:bodyPr>
          <a:lstStyle/>
          <a:p>
            <a:pPr>
              <a:lnSpc>
                <a:spcPts val="6999"/>
              </a:lnSpc>
            </a:pPr>
            <a:r>
              <a:rPr lang="en-US" sz="4999" spc="99">
                <a:solidFill>
                  <a:srgbClr val="FFFFFF"/>
                </a:solidFill>
                <a:latin typeface="Garet Bold"/>
              </a:rPr>
              <a:t>DATA COLLECTION METHODS WITH TECHNOLOGY</a:t>
            </a:r>
          </a:p>
        </p:txBody>
      </p:sp>
      <p:sp>
        <p:nvSpPr>
          <p:cNvPr name="TextBox 36" id="36"/>
          <p:cNvSpPr txBox="true"/>
          <p:nvPr/>
        </p:nvSpPr>
        <p:spPr>
          <a:xfrm rot="0">
            <a:off x="1408378" y="4463302"/>
            <a:ext cx="4112433" cy="860425"/>
          </a:xfrm>
          <a:prstGeom prst="rect">
            <a:avLst/>
          </a:prstGeom>
        </p:spPr>
        <p:txBody>
          <a:bodyPr anchor="t" rtlCol="false" tIns="0" lIns="0" bIns="0" rIns="0">
            <a:spAutoFit/>
          </a:bodyPr>
          <a:lstStyle/>
          <a:p>
            <a:pPr algn="ctr">
              <a:lnSpc>
                <a:spcPts val="3499"/>
              </a:lnSpc>
            </a:pPr>
            <a:r>
              <a:rPr lang="en-US" sz="2499">
                <a:solidFill>
                  <a:srgbClr val="000000"/>
                </a:solidFill>
                <a:latin typeface="Garet Bold"/>
              </a:rPr>
              <a:t>Data Collection Methods</a:t>
            </a:r>
          </a:p>
        </p:txBody>
      </p:sp>
      <p:sp>
        <p:nvSpPr>
          <p:cNvPr name="TextBox 37" id="37"/>
          <p:cNvSpPr txBox="true"/>
          <p:nvPr/>
        </p:nvSpPr>
        <p:spPr>
          <a:xfrm rot="0">
            <a:off x="7087784" y="4463302"/>
            <a:ext cx="4112433" cy="422275"/>
          </a:xfrm>
          <a:prstGeom prst="rect">
            <a:avLst/>
          </a:prstGeom>
        </p:spPr>
        <p:txBody>
          <a:bodyPr anchor="t" rtlCol="false" tIns="0" lIns="0" bIns="0" rIns="0">
            <a:spAutoFit/>
          </a:bodyPr>
          <a:lstStyle/>
          <a:p>
            <a:pPr algn="ctr">
              <a:lnSpc>
                <a:spcPts val="3499"/>
              </a:lnSpc>
            </a:pPr>
            <a:r>
              <a:rPr lang="en-US" sz="2499">
                <a:solidFill>
                  <a:srgbClr val="000000"/>
                </a:solidFill>
                <a:latin typeface="Garet Bold"/>
              </a:rPr>
              <a:t>Technology Used </a:t>
            </a:r>
          </a:p>
        </p:txBody>
      </p:sp>
      <p:sp>
        <p:nvSpPr>
          <p:cNvPr name="TextBox 38" id="38"/>
          <p:cNvSpPr txBox="true"/>
          <p:nvPr/>
        </p:nvSpPr>
        <p:spPr>
          <a:xfrm rot="0">
            <a:off x="12767189" y="4508406"/>
            <a:ext cx="4112433" cy="860425"/>
          </a:xfrm>
          <a:prstGeom prst="rect">
            <a:avLst/>
          </a:prstGeom>
        </p:spPr>
        <p:txBody>
          <a:bodyPr anchor="t" rtlCol="false" tIns="0" lIns="0" bIns="0" rIns="0">
            <a:spAutoFit/>
          </a:bodyPr>
          <a:lstStyle/>
          <a:p>
            <a:pPr algn="ctr">
              <a:lnSpc>
                <a:spcPts val="3499"/>
              </a:lnSpc>
            </a:pPr>
            <a:r>
              <a:rPr lang="en-US" sz="2499">
                <a:solidFill>
                  <a:srgbClr val="000000"/>
                </a:solidFill>
                <a:latin typeface="Garet Bold"/>
              </a:rPr>
              <a:t>Machine Learning Models</a:t>
            </a:r>
          </a:p>
        </p:txBody>
      </p:sp>
      <p:sp>
        <p:nvSpPr>
          <p:cNvPr name="TextBox 39" id="39"/>
          <p:cNvSpPr txBox="true"/>
          <p:nvPr/>
        </p:nvSpPr>
        <p:spPr>
          <a:xfrm rot="0">
            <a:off x="1408378" y="5554980"/>
            <a:ext cx="4112433" cy="2550160"/>
          </a:xfrm>
          <a:prstGeom prst="rect">
            <a:avLst/>
          </a:prstGeom>
        </p:spPr>
        <p:txBody>
          <a:bodyPr anchor="t" rtlCol="false" tIns="0" lIns="0" bIns="0" rIns="0">
            <a:spAutoFit/>
          </a:bodyPr>
          <a:lstStyle/>
          <a:p>
            <a:pPr algn="just" marL="0" indent="0" lvl="0">
              <a:lnSpc>
                <a:spcPts val="3410"/>
              </a:lnSpc>
            </a:pPr>
            <a:r>
              <a:rPr lang="en-US" sz="2200">
                <a:solidFill>
                  <a:srgbClr val="000000"/>
                </a:solidFill>
                <a:latin typeface="Open Sans Bold"/>
              </a:rPr>
              <a:t>We gathered information from the bank's loan applications, including details about the applicants, loan terms, credit scores, incomes, and asset values.</a:t>
            </a:r>
          </a:p>
        </p:txBody>
      </p:sp>
      <p:sp>
        <p:nvSpPr>
          <p:cNvPr name="TextBox 40" id="40"/>
          <p:cNvSpPr txBox="true"/>
          <p:nvPr/>
        </p:nvSpPr>
        <p:spPr>
          <a:xfrm rot="0">
            <a:off x="7088728" y="5067300"/>
            <a:ext cx="4112433" cy="3836035"/>
          </a:xfrm>
          <a:prstGeom prst="rect">
            <a:avLst/>
          </a:prstGeom>
        </p:spPr>
        <p:txBody>
          <a:bodyPr anchor="t" rtlCol="false" tIns="0" lIns="0" bIns="0" rIns="0">
            <a:spAutoFit/>
          </a:bodyPr>
          <a:lstStyle/>
          <a:p>
            <a:pPr algn="just">
              <a:lnSpc>
                <a:spcPts val="3410"/>
              </a:lnSpc>
            </a:pPr>
            <a:r>
              <a:rPr lang="en-US" sz="2200">
                <a:solidFill>
                  <a:srgbClr val="000000"/>
                </a:solidFill>
                <a:latin typeface="Open Sans Bold"/>
              </a:rPr>
              <a:t>We processed and analyzed this data using Python, NumPy, and Pandas to understand it better.</a:t>
            </a:r>
          </a:p>
          <a:p>
            <a:pPr algn="just" marL="0" indent="0" lvl="0">
              <a:lnSpc>
                <a:spcPts val="3410"/>
              </a:lnSpc>
            </a:pPr>
            <a:r>
              <a:rPr lang="en-US" sz="2200">
                <a:solidFill>
                  <a:srgbClr val="000000"/>
                </a:solidFill>
                <a:latin typeface="Open Sans Bold"/>
              </a:rPr>
              <a:t>We built an easy-to-use web app using Streamlit, where users can input applicant data and receive loan approval predictions.</a:t>
            </a:r>
          </a:p>
        </p:txBody>
      </p:sp>
      <p:sp>
        <p:nvSpPr>
          <p:cNvPr name="TextBox 41" id="41"/>
          <p:cNvSpPr txBox="true"/>
          <p:nvPr/>
        </p:nvSpPr>
        <p:spPr>
          <a:xfrm rot="0">
            <a:off x="12767189" y="5554980"/>
            <a:ext cx="4112433" cy="2121535"/>
          </a:xfrm>
          <a:prstGeom prst="rect">
            <a:avLst/>
          </a:prstGeom>
        </p:spPr>
        <p:txBody>
          <a:bodyPr anchor="t" rtlCol="false" tIns="0" lIns="0" bIns="0" rIns="0">
            <a:spAutoFit/>
          </a:bodyPr>
          <a:lstStyle/>
          <a:p>
            <a:pPr algn="just" marL="0" indent="0" lvl="0">
              <a:lnSpc>
                <a:spcPts val="3410"/>
              </a:lnSpc>
            </a:pPr>
            <a:r>
              <a:rPr lang="en-US" sz="2200">
                <a:solidFill>
                  <a:srgbClr val="000000"/>
                </a:solidFill>
                <a:latin typeface="Open Sans Bold"/>
              </a:rPr>
              <a:t>We explored Decision Tree and Random Forest algorithms to create a model that predicts loan approval based on the gathered data.</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028700" y="1395570"/>
            <a:ext cx="1310100" cy="0"/>
          </a:xfrm>
          <a:prstGeom prst="line">
            <a:avLst/>
          </a:prstGeom>
          <a:ln cap="flat" w="95250">
            <a:solidFill>
              <a:srgbClr val="FFFFFF"/>
            </a:solidFill>
            <a:prstDash val="solid"/>
            <a:headEnd type="none" len="sm" w="sm"/>
            <a:tailEnd type="none" len="sm" w="sm"/>
          </a:ln>
        </p:spPr>
      </p:sp>
      <p:sp>
        <p:nvSpPr>
          <p:cNvPr name="TextBox 3" id="3"/>
          <p:cNvSpPr txBox="true"/>
          <p:nvPr/>
        </p:nvSpPr>
        <p:spPr>
          <a:xfrm rot="0">
            <a:off x="1307217" y="365282"/>
            <a:ext cx="5386878" cy="854076"/>
          </a:xfrm>
          <a:prstGeom prst="rect">
            <a:avLst/>
          </a:prstGeom>
        </p:spPr>
        <p:txBody>
          <a:bodyPr anchor="t" rtlCol="false" tIns="0" lIns="0" bIns="0" rIns="0">
            <a:spAutoFit/>
          </a:bodyPr>
          <a:lstStyle/>
          <a:p>
            <a:pPr>
              <a:lnSpc>
                <a:spcPts val="6999"/>
              </a:lnSpc>
            </a:pPr>
            <a:r>
              <a:rPr lang="en-US" sz="4999" spc="99">
                <a:solidFill>
                  <a:srgbClr val="FFFFFF"/>
                </a:solidFill>
                <a:latin typeface="Garet Bold"/>
              </a:rPr>
              <a:t>INTRODUCTION</a:t>
            </a:r>
          </a:p>
        </p:txBody>
      </p:sp>
      <p:sp>
        <p:nvSpPr>
          <p:cNvPr name="TextBox 4" id="4"/>
          <p:cNvSpPr txBox="true"/>
          <p:nvPr/>
        </p:nvSpPr>
        <p:spPr>
          <a:xfrm rot="0">
            <a:off x="539118" y="1673114"/>
            <a:ext cx="6923076" cy="7552055"/>
          </a:xfrm>
          <a:prstGeom prst="rect">
            <a:avLst/>
          </a:prstGeom>
        </p:spPr>
        <p:txBody>
          <a:bodyPr anchor="t" rtlCol="false" tIns="0" lIns="0" bIns="0" rIns="0">
            <a:spAutoFit/>
          </a:bodyPr>
          <a:lstStyle/>
          <a:p>
            <a:pPr algn="just" marL="561339" indent="-280669" lvl="1">
              <a:lnSpc>
                <a:spcPts val="4029"/>
              </a:lnSpc>
              <a:buFont typeface="Arial"/>
              <a:buChar char="•"/>
            </a:pPr>
            <a:r>
              <a:rPr lang="en-US" sz="2599">
                <a:solidFill>
                  <a:srgbClr val="FFFFFF"/>
                </a:solidFill>
                <a:latin typeface="Open Sans Bold"/>
              </a:rPr>
              <a:t>The Loan Approval Prediction project aims to develop a predictive model that can determine whether a loan application will be approved or rejected by a bank. </a:t>
            </a:r>
          </a:p>
          <a:p>
            <a:pPr algn="just">
              <a:lnSpc>
                <a:spcPts val="4029"/>
              </a:lnSpc>
            </a:pPr>
          </a:p>
          <a:p>
            <a:pPr algn="just" marL="561339" indent="-280669" lvl="1">
              <a:lnSpc>
                <a:spcPts val="4029"/>
              </a:lnSpc>
              <a:buFont typeface="Arial"/>
              <a:buChar char="•"/>
            </a:pPr>
            <a:r>
              <a:rPr lang="en-US" sz="2599">
                <a:solidFill>
                  <a:srgbClr val="FFFFFF"/>
                </a:solidFill>
                <a:latin typeface="Open Sans Bold"/>
              </a:rPr>
              <a:t>It is aimed at leveraging data-driven insights to enhance decision-making and customer service in lending.</a:t>
            </a:r>
          </a:p>
          <a:p>
            <a:pPr algn="just">
              <a:lnSpc>
                <a:spcPts val="4029"/>
              </a:lnSpc>
            </a:pPr>
          </a:p>
          <a:p>
            <a:pPr algn="just" marL="561339" indent="-280669" lvl="1">
              <a:lnSpc>
                <a:spcPts val="4029"/>
              </a:lnSpc>
              <a:buFont typeface="Arial"/>
              <a:buChar char="•"/>
            </a:pPr>
            <a:r>
              <a:rPr lang="en-US" sz="2599">
                <a:solidFill>
                  <a:srgbClr val="FFFFFF"/>
                </a:solidFill>
                <a:latin typeface="Open Sans Bold"/>
              </a:rPr>
              <a:t>The model analyzes various factors and information provided by the applicant, such as loan amount, tenure, CIBIL (credit) score, education, income, and asset values.</a:t>
            </a:r>
          </a:p>
        </p:txBody>
      </p:sp>
      <p:sp>
        <p:nvSpPr>
          <p:cNvPr name="TextBox 5" id="5"/>
          <p:cNvSpPr txBox="true"/>
          <p:nvPr/>
        </p:nvSpPr>
        <p:spPr>
          <a:xfrm rot="0">
            <a:off x="5327449" y="561022"/>
            <a:ext cx="7652151" cy="1009651"/>
          </a:xfrm>
          <a:prstGeom prst="rect">
            <a:avLst/>
          </a:prstGeom>
        </p:spPr>
        <p:txBody>
          <a:bodyPr anchor="t" rtlCol="false" tIns="0" lIns="0" bIns="0" rIns="0">
            <a:spAutoFit/>
          </a:bodyPr>
          <a:lstStyle/>
          <a:p>
            <a:pPr algn="ctr">
              <a:lnSpc>
                <a:spcPts val="8399"/>
              </a:lnSpc>
            </a:pPr>
            <a:r>
              <a:rPr lang="en-US" sz="5999">
                <a:solidFill>
                  <a:srgbClr val="0345E4"/>
                </a:solidFill>
                <a:latin typeface="Garet Bold"/>
              </a:rPr>
              <a:t>Future Scope</a:t>
            </a:r>
          </a:p>
        </p:txBody>
      </p:sp>
      <p:sp>
        <p:nvSpPr>
          <p:cNvPr name="TextBox 6" id="6"/>
          <p:cNvSpPr txBox="true"/>
          <p:nvPr/>
        </p:nvSpPr>
        <p:spPr>
          <a:xfrm rot="0">
            <a:off x="757736" y="1872822"/>
            <a:ext cx="17002324" cy="7181215"/>
          </a:xfrm>
          <a:prstGeom prst="rect">
            <a:avLst/>
          </a:prstGeom>
        </p:spPr>
        <p:txBody>
          <a:bodyPr anchor="t" rtlCol="false" tIns="0" lIns="0" bIns="0" rIns="0">
            <a:spAutoFit/>
          </a:bodyPr>
          <a:lstStyle/>
          <a:p>
            <a:pPr>
              <a:lnSpc>
                <a:spcPts val="4759"/>
              </a:lnSpc>
            </a:pPr>
            <a:r>
              <a:rPr lang="en-US" sz="3399">
                <a:solidFill>
                  <a:srgbClr val="0345E4"/>
                </a:solidFill>
                <a:latin typeface="Garet Bold"/>
              </a:rPr>
              <a:t>As the current project has successfully developed a predictive model using algorithms like Decision Tree Classifier and Random Forest Classifier, the future scope involves exploring more advanced machine learning techniques and statistical models. This includes ensemble methods like Gradient Boosting, neural networks, and deep learning architectures, which can capture complex relationships in the data more effectively. Additionally, incorporating advanced statistical models such as survival analysis and time series forecasting will provide valuable insights into loan repayment patterns and default risk. By continuously refining and expanding its modeling techniques, the project will ensure more accurate and reliable loan approval predictions, staying ahead in analytical capabilities.</a:t>
            </a:r>
          </a:p>
        </p:txBody>
      </p:sp>
      <p:grpSp>
        <p:nvGrpSpPr>
          <p:cNvPr name="Group 7" id="7"/>
          <p:cNvGrpSpPr/>
          <p:nvPr/>
        </p:nvGrpSpPr>
        <p:grpSpPr>
          <a:xfrm rot="5400000">
            <a:off x="17259300" y="279935"/>
            <a:ext cx="771724" cy="77172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5400000">
            <a:off x="8662855" y="9288578"/>
            <a:ext cx="596043" cy="59604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5400000">
            <a:off x="153256" y="9288578"/>
            <a:ext cx="771724" cy="77172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TextBox 3" id="3"/>
          <p:cNvSpPr txBox="true"/>
          <p:nvPr/>
        </p:nvSpPr>
        <p:spPr>
          <a:xfrm rot="0">
            <a:off x="2689904" y="665061"/>
            <a:ext cx="12756192" cy="1717662"/>
          </a:xfrm>
          <a:prstGeom prst="rect">
            <a:avLst/>
          </a:prstGeom>
        </p:spPr>
        <p:txBody>
          <a:bodyPr anchor="t" rtlCol="false" tIns="0" lIns="0" bIns="0" rIns="0">
            <a:spAutoFit/>
          </a:bodyPr>
          <a:lstStyle/>
          <a:p>
            <a:pPr algn="ctr">
              <a:lnSpc>
                <a:spcPts val="14000"/>
              </a:lnSpc>
            </a:pPr>
            <a:r>
              <a:rPr lang="en-US" sz="10000">
                <a:solidFill>
                  <a:srgbClr val="FFFFFF"/>
                </a:solidFill>
                <a:latin typeface="Garet Bold"/>
              </a:rPr>
              <a:t>CONCLUSION</a:t>
            </a:r>
          </a:p>
        </p:txBody>
      </p:sp>
      <p:sp>
        <p:nvSpPr>
          <p:cNvPr name="TextBox 4" id="4"/>
          <p:cNvSpPr txBox="true"/>
          <p:nvPr/>
        </p:nvSpPr>
        <p:spPr>
          <a:xfrm rot="0">
            <a:off x="564319" y="2925581"/>
            <a:ext cx="17159362" cy="6019800"/>
          </a:xfrm>
          <a:prstGeom prst="rect">
            <a:avLst/>
          </a:prstGeom>
        </p:spPr>
        <p:txBody>
          <a:bodyPr anchor="t" rtlCol="false" tIns="0" lIns="0" bIns="0" rIns="0">
            <a:spAutoFit/>
          </a:bodyPr>
          <a:lstStyle/>
          <a:p>
            <a:pPr marL="0" indent="0" lvl="0">
              <a:lnSpc>
                <a:spcPts val="6000"/>
              </a:lnSpc>
            </a:pPr>
            <a:r>
              <a:rPr lang="en-US" sz="3000">
                <a:solidFill>
                  <a:srgbClr val="FFFFFF"/>
                </a:solidFill>
                <a:latin typeface="Open Sans Bold"/>
              </a:rPr>
              <a:t>The Loan Approval Prediction project has developed a predictive model that revolutionizes how banks evaluate loan applications. By analyzing factors like loan amount, credit score, income, and assets, the model accurately predicts the likelihood of loan approval for new applicants. This solution streamlines the approval process, prioritizes applications, and empowers decision-makers with data-driven insights. It fosters a customer-centric approach, enhances customer experiences, and mitigates risk by improving risk assessment. Thus, the project contributes to a more efficient, informed, customer-focused, and risk-aware loan approval process within the banking sector.</a:t>
            </a:r>
          </a:p>
        </p:txBody>
      </p:sp>
      <p:sp>
        <p:nvSpPr>
          <p:cNvPr name="AutoShape 5" id="5"/>
          <p:cNvSpPr/>
          <p:nvPr/>
        </p:nvSpPr>
        <p:spPr>
          <a:xfrm>
            <a:off x="8024601" y="2430348"/>
            <a:ext cx="1310100" cy="0"/>
          </a:xfrm>
          <a:prstGeom prst="line">
            <a:avLst/>
          </a:prstGeom>
          <a:ln cap="flat" w="95250">
            <a:solidFill>
              <a:srgbClr val="FFFFFF"/>
            </a:solidFill>
            <a:prstDash val="solid"/>
            <a:headEnd type="none" len="sm" w="sm"/>
            <a:tailEnd type="none" len="sm" w="sm"/>
          </a:ln>
        </p:spPr>
      </p:sp>
      <p:grpSp>
        <p:nvGrpSpPr>
          <p:cNvPr name="Group 6" id="6"/>
          <p:cNvGrpSpPr/>
          <p:nvPr/>
        </p:nvGrpSpPr>
        <p:grpSpPr>
          <a:xfrm rot="0">
            <a:off x="15664971" y="-782737"/>
            <a:ext cx="3744615" cy="37446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FFFFFF">
                  <a:alpha val="19608"/>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755020" y="7356528"/>
            <a:ext cx="2350854" cy="235085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FFFFFF">
                  <a:alpha val="19608"/>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842469" y="0"/>
            <a:ext cx="5416831" cy="12022429"/>
            <a:chOff x="0" y="0"/>
            <a:chExt cx="2858770" cy="6344920"/>
          </a:xfrm>
        </p:grpSpPr>
        <p:sp>
          <p:nvSpPr>
            <p:cNvPr name="Freeform 3" id="3"/>
            <p:cNvSpPr/>
            <p:nvPr/>
          </p:nvSpPr>
          <p:spPr>
            <a:xfrm flipH="false" flipV="false" rot="0">
              <a:off x="0" y="0"/>
              <a:ext cx="2858770" cy="6344920"/>
            </a:xfrm>
            <a:custGeom>
              <a:avLst/>
              <a:gdLst/>
              <a:ahLst/>
              <a:cxnLst/>
              <a:rect r="r" b="b" t="t" l="l"/>
              <a:pathLst>
                <a:path h="6344920" w="2858770">
                  <a:moveTo>
                    <a:pt x="1827530" y="6344920"/>
                  </a:moveTo>
                  <a:lnTo>
                    <a:pt x="0" y="6344920"/>
                  </a:lnTo>
                  <a:lnTo>
                    <a:pt x="0" y="1031240"/>
                  </a:lnTo>
                  <a:cubicBezTo>
                    <a:pt x="0" y="461010"/>
                    <a:pt x="461010" y="0"/>
                    <a:pt x="1031240" y="0"/>
                  </a:cubicBezTo>
                  <a:lnTo>
                    <a:pt x="2858770" y="0"/>
                  </a:lnTo>
                  <a:lnTo>
                    <a:pt x="2858770" y="5313680"/>
                  </a:lnTo>
                  <a:cubicBezTo>
                    <a:pt x="2858770" y="5883910"/>
                    <a:pt x="2397760" y="6344920"/>
                    <a:pt x="1827530" y="6344920"/>
                  </a:cubicBezTo>
                  <a:close/>
                </a:path>
              </a:pathLst>
            </a:custGeom>
            <a:blipFill>
              <a:blip r:embed="rId2"/>
              <a:stretch>
                <a:fillRect l="-103496" t="0" r="-129630" b="0"/>
              </a:stretch>
            </a:blipFill>
          </p:spPr>
        </p:sp>
      </p:grpSp>
      <p:grpSp>
        <p:nvGrpSpPr>
          <p:cNvPr name="Group 4" id="4"/>
          <p:cNvGrpSpPr/>
          <p:nvPr/>
        </p:nvGrpSpPr>
        <p:grpSpPr>
          <a:xfrm rot="0">
            <a:off x="17259300" y="7109187"/>
            <a:ext cx="1028700" cy="3177813"/>
            <a:chOff x="0" y="0"/>
            <a:chExt cx="812800" cy="2510865"/>
          </a:xfrm>
        </p:grpSpPr>
        <p:sp>
          <p:nvSpPr>
            <p:cNvPr name="Freeform 5" id="5"/>
            <p:cNvSpPr/>
            <p:nvPr/>
          </p:nvSpPr>
          <p:spPr>
            <a:xfrm flipH="false" flipV="false" rot="0">
              <a:off x="0" y="0"/>
              <a:ext cx="812800" cy="2510865"/>
            </a:xfrm>
            <a:custGeom>
              <a:avLst/>
              <a:gdLst/>
              <a:ahLst/>
              <a:cxnLst/>
              <a:rect r="r" b="b" t="t" l="l"/>
              <a:pathLst>
                <a:path h="2510865" w="812800">
                  <a:moveTo>
                    <a:pt x="0" y="0"/>
                  </a:moveTo>
                  <a:lnTo>
                    <a:pt x="812800" y="0"/>
                  </a:lnTo>
                  <a:lnTo>
                    <a:pt x="812800" y="2510865"/>
                  </a:lnTo>
                  <a:lnTo>
                    <a:pt x="0" y="2510865"/>
                  </a:lnTo>
                  <a:close/>
                </a:path>
              </a:pathLst>
            </a:custGeom>
            <a:solidFill>
              <a:srgbClr val="0345E4"/>
            </a:solidFill>
          </p:spPr>
        </p:sp>
        <p:sp>
          <p:nvSpPr>
            <p:cNvPr name="TextBox 6" id="6"/>
            <p:cNvSpPr txBox="true"/>
            <p:nvPr/>
          </p:nvSpPr>
          <p:spPr>
            <a:xfrm>
              <a:off x="0" y="-38100"/>
              <a:ext cx="812800" cy="254896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0" y="7109187"/>
            <a:ext cx="11842469" cy="3177813"/>
            <a:chOff x="0" y="0"/>
            <a:chExt cx="9357013" cy="2510865"/>
          </a:xfrm>
        </p:grpSpPr>
        <p:sp>
          <p:nvSpPr>
            <p:cNvPr name="Freeform 8" id="8"/>
            <p:cNvSpPr/>
            <p:nvPr/>
          </p:nvSpPr>
          <p:spPr>
            <a:xfrm flipH="false" flipV="false" rot="0">
              <a:off x="0" y="0"/>
              <a:ext cx="9357013" cy="2510865"/>
            </a:xfrm>
            <a:custGeom>
              <a:avLst/>
              <a:gdLst/>
              <a:ahLst/>
              <a:cxnLst/>
              <a:rect r="r" b="b" t="t" l="l"/>
              <a:pathLst>
                <a:path h="2510865" w="9357013">
                  <a:moveTo>
                    <a:pt x="0" y="0"/>
                  </a:moveTo>
                  <a:lnTo>
                    <a:pt x="9357013" y="0"/>
                  </a:lnTo>
                  <a:lnTo>
                    <a:pt x="9357013" y="2510865"/>
                  </a:lnTo>
                  <a:lnTo>
                    <a:pt x="0" y="2510865"/>
                  </a:lnTo>
                  <a:close/>
                </a:path>
              </a:pathLst>
            </a:custGeom>
            <a:solidFill>
              <a:srgbClr val="F6F6F6"/>
            </a:solidFill>
          </p:spPr>
        </p:sp>
        <p:sp>
          <p:nvSpPr>
            <p:cNvPr name="TextBox 9" id="9"/>
            <p:cNvSpPr txBox="true"/>
            <p:nvPr/>
          </p:nvSpPr>
          <p:spPr>
            <a:xfrm>
              <a:off x="0" y="-38100"/>
              <a:ext cx="9357013" cy="254896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0"/>
            <a:ext cx="1028700" cy="10287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345E4"/>
            </a:solidFill>
          </p:spPr>
        </p:sp>
        <p:sp>
          <p:nvSpPr>
            <p:cNvPr name="TextBox 12" id="12"/>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609914" y="0"/>
            <a:ext cx="1694792" cy="10287000"/>
            <a:chOff x="0" y="0"/>
            <a:chExt cx="446365" cy="2709333"/>
          </a:xfrm>
        </p:grpSpPr>
        <p:sp>
          <p:nvSpPr>
            <p:cNvPr name="Freeform 14" id="14"/>
            <p:cNvSpPr/>
            <p:nvPr/>
          </p:nvSpPr>
          <p:spPr>
            <a:xfrm flipH="false" flipV="false" rot="0">
              <a:off x="0" y="0"/>
              <a:ext cx="446365" cy="2709333"/>
            </a:xfrm>
            <a:custGeom>
              <a:avLst/>
              <a:gdLst/>
              <a:ahLst/>
              <a:cxnLst/>
              <a:rect r="r" b="b" t="t" l="l"/>
              <a:pathLst>
                <a:path h="2709333" w="446365">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name="TextBox 15" id="15"/>
            <p:cNvSpPr txBox="true"/>
            <p:nvPr/>
          </p:nvSpPr>
          <p:spPr>
            <a:xfrm>
              <a:off x="0" y="-38100"/>
              <a:ext cx="446365" cy="2747433"/>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0853887" y="786854"/>
            <a:ext cx="1977164" cy="197716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199699" y="0"/>
                  </a:moveTo>
                  <a:lnTo>
                    <a:pt x="613101" y="0"/>
                  </a:lnTo>
                  <a:cubicBezTo>
                    <a:pt x="666064" y="0"/>
                    <a:pt x="716859" y="21040"/>
                    <a:pt x="754309" y="58491"/>
                  </a:cubicBezTo>
                  <a:cubicBezTo>
                    <a:pt x="791760" y="95941"/>
                    <a:pt x="812800" y="146736"/>
                    <a:pt x="812800" y="199699"/>
                  </a:cubicBezTo>
                  <a:lnTo>
                    <a:pt x="812800" y="613101"/>
                  </a:lnTo>
                  <a:cubicBezTo>
                    <a:pt x="812800" y="666064"/>
                    <a:pt x="791760" y="716859"/>
                    <a:pt x="754309" y="754309"/>
                  </a:cubicBezTo>
                  <a:cubicBezTo>
                    <a:pt x="716859" y="791760"/>
                    <a:pt x="666064" y="812800"/>
                    <a:pt x="613101" y="812800"/>
                  </a:cubicBezTo>
                  <a:lnTo>
                    <a:pt x="199699" y="812800"/>
                  </a:lnTo>
                  <a:cubicBezTo>
                    <a:pt x="146736" y="812800"/>
                    <a:pt x="95941" y="791760"/>
                    <a:pt x="58491" y="754309"/>
                  </a:cubicBezTo>
                  <a:cubicBezTo>
                    <a:pt x="21040" y="716859"/>
                    <a:pt x="0" y="666064"/>
                    <a:pt x="0" y="613101"/>
                  </a:cubicBezTo>
                  <a:lnTo>
                    <a:pt x="0" y="199699"/>
                  </a:lnTo>
                  <a:cubicBezTo>
                    <a:pt x="0" y="146736"/>
                    <a:pt x="21040" y="95941"/>
                    <a:pt x="58491" y="58491"/>
                  </a:cubicBezTo>
                  <a:cubicBezTo>
                    <a:pt x="95941" y="21040"/>
                    <a:pt x="146736" y="0"/>
                    <a:pt x="199699" y="0"/>
                  </a:cubicBezTo>
                  <a:close/>
                </a:path>
              </a:pathLst>
            </a:custGeom>
            <a:solidFill>
              <a:srgbClr val="0345E4">
                <a:alpha val="29804"/>
              </a:srgbClr>
            </a:solidFill>
          </p:spPr>
        </p:sp>
        <p:sp>
          <p:nvSpPr>
            <p:cNvPr name="TextBox 18" id="18"/>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2087321" y="5067300"/>
            <a:ext cx="8766566" cy="762000"/>
          </a:xfrm>
          <a:prstGeom prst="rect">
            <a:avLst/>
          </a:prstGeom>
        </p:spPr>
        <p:txBody>
          <a:bodyPr anchor="t" rtlCol="false" tIns="0" lIns="0" bIns="0" rIns="0">
            <a:spAutoFit/>
          </a:bodyPr>
          <a:lstStyle/>
          <a:p>
            <a:pPr>
              <a:lnSpc>
                <a:spcPts val="6299"/>
              </a:lnSpc>
            </a:pPr>
            <a:r>
              <a:rPr lang="en-US" sz="4500" spc="450">
                <a:solidFill>
                  <a:srgbClr val="000000"/>
                </a:solidFill>
                <a:latin typeface="Garet"/>
              </a:rPr>
              <a:t>FOR YOUR ATTENTION</a:t>
            </a:r>
          </a:p>
        </p:txBody>
      </p:sp>
      <p:sp>
        <p:nvSpPr>
          <p:cNvPr name="TextBox 20" id="20"/>
          <p:cNvSpPr txBox="true"/>
          <p:nvPr/>
        </p:nvSpPr>
        <p:spPr>
          <a:xfrm rot="0">
            <a:off x="1750259" y="3387712"/>
            <a:ext cx="8795646" cy="1523365"/>
          </a:xfrm>
          <a:prstGeom prst="rect">
            <a:avLst/>
          </a:prstGeom>
        </p:spPr>
        <p:txBody>
          <a:bodyPr anchor="t" rtlCol="false" tIns="0" lIns="0" bIns="0" rIns="0">
            <a:spAutoFit/>
          </a:bodyPr>
          <a:lstStyle/>
          <a:p>
            <a:pPr>
              <a:lnSpc>
                <a:spcPts val="11960"/>
              </a:lnSpc>
            </a:pPr>
            <a:r>
              <a:rPr lang="en-US" sz="10400">
                <a:solidFill>
                  <a:srgbClr val="000000"/>
                </a:solidFill>
                <a:latin typeface="Garet Bold"/>
              </a:rPr>
              <a:t>THANK YOU</a:t>
            </a:r>
          </a:p>
        </p:txBody>
      </p:sp>
      <p:grpSp>
        <p:nvGrpSpPr>
          <p:cNvPr name="Group 21" id="21"/>
          <p:cNvGrpSpPr/>
          <p:nvPr/>
        </p:nvGrpSpPr>
        <p:grpSpPr>
          <a:xfrm rot="0">
            <a:off x="8484493" y="9014056"/>
            <a:ext cx="2545888" cy="2545888"/>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9804"/>
                </a:srgbClr>
              </a:solidFill>
              <a:prstDash val="solid"/>
              <a:miter/>
            </a:ln>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DAGDCysEC9A</dc:identifier>
  <dcterms:modified xsi:type="dcterms:W3CDTF">2011-08-01T06:04:30Z</dcterms:modified>
  <cp:revision>1</cp:revision>
  <dc:title>LOAN APPROVAL PREDICTION</dc:title>
</cp:coreProperties>
</file>